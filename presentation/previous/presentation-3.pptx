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24" Type="http://schemas.openxmlformats.org/officeDocument/2006/relationships/slide" Target="slides/slide18.xml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8929a02c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f8929a02c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894216742_5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" name="Google Shape;133;g3f894216742_5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OPEN WITH THE PICTURE, not the method. Show the scene: a small round pusher, a T-shaped block,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a target outline. The pusher cannot grab anything. It can only make contact and push. That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 constraint is what makes Push-T a standard benchmark -- the robot has to reason about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contact, friction and rotation, not just about where to go.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IT IS HARD. Getting the T to rotate usually means backing away from the goal, travelling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around the block, and pushing from the other side. The move that helps you most in the long run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looks like the wrong move right now. Hold that thought -- Oguz's segment is built on it.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REACTION VERSUS IMAGINATION -- the core contrast of the whole talk. The common approach is 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policy: a network that looks at an image and emits an action. It reacts. It never asks "what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would happen if I did this?" We do the opposite. We train a model of the world's dynamics, and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then, at test time, we imagine many candidate action sequences through that model and pick the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best one. The model makes no decisions; the search does.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THAT MATTERS FOR US SPECIFICALLY: because the search happens at test time rather than being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baked into the weights, the task can change without retraining. That property is what the next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three slides all lean 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TASK SOURCE, if asked: Push-T comes from the Diffusion Policy paper (Chi et al., 2023); we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the gym-pusht simulator and the lerobot/pusht demonstration dataset.</a:t>
            </a:r>
            <a:endParaRPr/>
          </a:p>
        </p:txBody>
      </p:sp>
      <p:sp>
        <p:nvSpPr>
          <p:cNvPr id="134" name="Google Shape;134;g3f894216742_5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894216742_5_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5" name="Google Shape;145;g3f894216742_5_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SLIDE ANSWERS THE TWO QUESTIONS THE AUDIENCE WILL HAVE: which hierarchy, and which paper.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"HIERARCHY" MEANS HERE -- it is temporal, not spatial. Two world models, at two timescales: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The LOW-LEVEL model predicts one step at a time, and its planner searches primitive 2D moves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over a short horizon of about ten steps.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The HIGH-LEVEL model works in macro-actions: a whole chunk of 5 to 15 primitive steps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compressed into a single 4-dimensional code by a GRU autoencoder. Its planner searches only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three or four of those coarse hops.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high level's output is a SUBGOAL -- an imagined future latent -- which becomes the low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level's target. Crucially both models operate in the SAME 64-dimensional latent space, produced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by one shared frozen encoder, so a subgoal predicted upstairs is directly usable downstairs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without any translation.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ANALOGY: a map app plans the route at the level of streets; you still steer the car metre by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metre. Neither level could do the other's job efficiently.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BOTHER. Two reasons, both from the paper's section 1. First, non-greedy tasks: when the cost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surface is not monotone, a short-horizon planner stalls, but a high-level plan can commit to the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detour. Second, long horizons: searching 40 primitive steps directly is an 80-dimensional search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that explodes, whereas a few macro hops is 16 dimensions.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PAPER: Assran et al., "Hierarchical Planning with Latent World Models", 2026 -- the Meta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paper we are reproducing. Its lineage: DINO-WM (Zhou et al., 2024), which showed planning 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frozen pretrained visual features, and PLDM (Sobal et al., 2025), on learning from reward-free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offline data. Exact arXiv ids are in our README if anyone asks.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SCOPE, AND HOW FAR WE NARROWED IT. They use frozen DINOv2 or V-JEPA 2 backbones, 300M to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1.3B parameters, with 25M and 75M transformer dynamics models on top, 18,500 Push-T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trajectories, multi-node A100/H100 clusters. We use ~200 human teleoperation demos plus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contact-biased synthetic episodes, 3.15M parameters, zero pretrained weights, one free Colab T4.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 our question is not "does hierarchy work" -- they showed it does. Ours is: does it STILL work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you strip away the scale? We also staged the work: Diverse Maze first to isolate pure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spatial hierarchy, then Push-T with its contact physics.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 WE ARE, HONESTLY: right now the flat planner still beats the hierarchical one. Oguz will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explain why that turned out to say more about how we were MEASURING than about the hierarchy.</a:t>
            </a:r>
            <a:endParaRPr/>
          </a:p>
        </p:txBody>
      </p:sp>
      <p:sp>
        <p:nvSpPr>
          <p:cNvPr id="146" name="Google Shape;146;g3f894216742_5_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894216742_5_4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g3f894216742_5_4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KEEP THIS CONCEPTUAL -- Oguz covers the world model itself right after.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RECURRENCE AT ALL. The predictor has to answer: given the current latent state and an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action, what is the next latent state? Our first version was a single-step Markov MLP: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z(t+1) = z(t) + MLP(z(t), a(t)), about 30K parameters. The problem is that some things are not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visible in a single frame. "Am I currently in contact with the block" is state that only exists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across a short history. An MLP recomputes from scratch every step, so it can never represent it.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A GRU DOES, plainly. It keeps a hidden state h -- a running memory -- and at every step it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decides how to update it. The update gate controls how much of the old memory to carry forward;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reset gate controls how much of it to throw away when computing the new candidate memory.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gates. An LSTM does something similar with three gates and a separate cell state; the GRU is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cheaper and, at our parameter budget, that is the right trade.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THE RESIDUAL FORM. Notice z(t+1) = z(t) + readout(h(t)). The model outputs a DELTA, not an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absolute state. That makes "nothing changes" the default behaviour, which is correct most of the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 -- the block only moves during contact -- and it means the network spends its capacity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learning what a push does rather than re-deriving the whole scene every step.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GRU also appears a second time in this project, one level up: the action encoder that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compresses a 5-15 step chunk into a single 4-dim macro-action is a GRU autoencoder. Same reason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-- a chunk is a sequence, and a sequence needs a memory.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someone asks about size: 2 layers, hidden 384, 1.58M parameters, roughly 50x the old MLP.</a:t>
            </a:r>
            <a:endParaRPr/>
          </a:p>
        </p:txBody>
      </p:sp>
      <p:sp>
        <p:nvSpPr>
          <p:cNvPr id="175" name="Google Shape;175;g3f894216742_5_4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894216742_5_5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9" name="Google Shape;189;g3f894216742_5_5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CORE DISTINCTION -- say this clearly. A VLA is a POLICY: it maps what it sees plus an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 directly to an action. It is reactive. It never asks "what would happen if I did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this?" before doing it. A world model is the opposite: it makes no decisions, it only predicts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consequences -- and the decision comes from searching over those predictions at test time.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Reaction versus deliberation. This is the same contrast as slide 1, now aimed at the strongest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version of the reactive approach.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FOUR REASONS IT IS NOT ENOUGH FOR US: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No imagination, no search. There is no place in a VLA to evaluate a candidate plan before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committing to it. Our whole method is that evaluation step.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It is behavior cloning at scale. Scale mitigates BC's failure mode but does not remove it: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a policy trained by regression drifts toward the demonstrated average, and the non-greedy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contact maneuvers we care about are exactly the rare tail. We have our own evidence for this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-- Oguz's slide covers our behavior-cloning run, where 12 of 15 seeds never touched the block.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The goal is an image. "Push the T to this exact pose" is not well specified in language;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sub-centimetre pose targets do not have words. Our goal enters as a latent vector, and any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goal image works without retraining.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Test-time flexibility. Changing what a VLA optimizes means retraining it. We changed our cost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function mid-project -- added a block-pose term -- without touching the model.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SCALE NUMBERS -- these are from memory, worth double-checking before the talk: OpenVLA is about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7B parameters trained on roughly 970k episodes from Open X-Embodiment; RT-2 goes up to ~55B.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 them as "billions of parameters, about a million real robot episodes" if you'd rather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commit to exact figures. The contrast is the point, not the decimal places.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 FAIR: do not claim VLAs don't work. They work, and they generalize in ways we cannot. Our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claim is narrower and more honest -- they answer a different question, and they are not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available to a team with one free GPU. That is the question we picked.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HAND OFF TO ARDA on the closing line.</a:t>
            </a:r>
            <a:endParaRPr/>
          </a:p>
        </p:txBody>
      </p:sp>
      <p:sp>
        <p:nvSpPr>
          <p:cNvPr id="190" name="Google Shape;190;g3f894216742_5_5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f89338076c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f89338076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f8957f8c63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f8957f8c6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8957f8c63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f8957f8c6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f894216742_3_7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2" name="Google Shape;222;g3f894216742_3_7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decisions worth defending.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A GRU, NOT AN MLP. The original predictor was a single-step Markov MLP, ~30K params.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had no mechanism to represent "am I currently in contact with the block", because contact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state that only exists across a short history, not in one frame. The GRU's hidden state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accumulates that context. An architecture problem, not a parameter-count problem.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Full sizes: encoder 1.57M params, predictor 2-layer GRU hidden 384, 1.58M params.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z(t+1) = z(t) + readout(h(t)). Trained on 15-step latent rollout MSE.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VICREG AND NO DECODER. We never reconstruct pixels. Latent-only prediction has a trivial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degenerate solution: map every image to the same vector and prediction error is zero. VICReg's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variance term forces each dimension to keep std near 1; the covariance term decorrelates them.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Measured latent std settles at 1.03 against a target of 1.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BLOCK PROBLEM. The real dataset's state is pusher (x, y) only. The block moves only 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contact; the pusher moves every frame. So the encoder had every incentive to ignore the 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Fix: contact-biased synthetic data (contact frames 38% -&gt; 70%) plus a BlockPoseHead,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 -&gt; (bx, by, sin, cos), supervised BOTH on the still frame and on the imagined rollout.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Epoch 1 -&gt; 50: 51px/45deg -&gt; 14.9px/5.5deg seen, 50px/47deg -&gt; 20.5px/9.7deg imagined.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SAY HONESTLY: this made the MODEL better and did NOT make the PLANNER better. We swept the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matching planner cost weight across 100x and it never beat turning it off on more than 41%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tasks. Slide 3 explains why.</a:t>
            </a:r>
            <a:endParaRPr/>
          </a:p>
        </p:txBody>
      </p:sp>
      <p:sp>
        <p:nvSpPr>
          <p:cNvPr id="223" name="Google Shape;223;g3f894216742_3_7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f894216742_3_9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0" name="Google Shape;240;g3f894216742_3_9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One-line version is the title. RL bakes the task into the weights: the goal has to exist at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training time. Our setup keeps the task OUTSIDE the model. The world model only learns physics;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goal enters at test time as a cost function. That is what let us add a block-pose term to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cost without retraining anything.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FOUR REASONS, in full: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No reward. A task is a goal IMAGE. Every new goal is a new reward function and a new training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run. Our world model trains once, on reward-free data, and accepts any goal at test time.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Fixed offline data. ~200 human demos plus synthetic rollouts, one free Colab T4. RL wants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millions of online interaction steps.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Credit assignment across sparse contact. Reward arrives only after a long maneuver in which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most frames never touch the block.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Planning separates physics from strategy, so when it fails we can measure which half failed.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A policy network gives one number and no dial.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EVIDENCE. We trained a behavior-cloning policy, z -&gt; action, plain MSE on real expert demos.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trained cleanly: val MSE 0.159 -&gt; 0.035, and 85x better than a shuffled-pairing control, so it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was genuinely state-conditioned. Then, in real physics, 15 seeds, 60 steps each, starting near the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block: 12 of 15 made zero contact for the entire rollout. Contact is a minority of frames, so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uniform MSE is dominated by repositioning behavior. Reverted the same day.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PRE-EMPT THE QUESTION: "did you run an RL baseline?" No. Say so plainly. This is an argument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about fit -- reward-free offline data with test-time image goals -- plus one policy-learning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failure. Not an experimental refutation of RL.</a:t>
            </a:r>
            <a:endParaRPr/>
          </a:p>
        </p:txBody>
      </p:sp>
      <p:sp>
        <p:nvSpPr>
          <p:cNvPr id="241" name="Google Shape;241;g3f894216742_3_9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f894216742_3_10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4" name="Google Shape;254;g3f894216742_3_10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Land the two-kinds-of-greed point first; people usually notice only one.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CEM IN FULL, if asked: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Sample a population of complete action sequences from a Gaussian.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Imagine each one forward through the GRU. No simulator is touched.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Score by latent distance to the goal.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Keep the best 10% -- the elites. Throw the other 90% away.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Refit mean and std to the elites alone. Repeat.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Whichever basin the first blob of samples overlaps is the basin you converge into.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MPC on top: plan H steps, execute only the FIRST action, re-encode the real image, replan.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COST. At d=40: 600 population x 15 iterations x 40 horizon = 360,000 imagined GRU steps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ONE executed action; ~7.4M per episode. 59 s per task vs the hierarchy's 6.9 s -- 8.6x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faster, because it searches 16 dimensions instead of 80. Nice irony: flat planning got 11x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SLOWER over this project precisely because we improved the low-level model. Better physics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makes brute force more expensive -- itself an argument for hierarchy.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GREEDY TRAP. Push-T is non-greedy by construction: to rotate the T you must back away and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 around, which INCREASES distance to the goal. The cost surface is not monotone, and a greedy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short-horizon planner will not take the temporarily-worse action.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TWIST -- the punchline of the segment. Flat currently beats hierarchical (11/45 wins,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15.0px vs 5.5px). But the task distribution was degenerate: goals were built by replaying an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UNRELATED episode's action snippet, and Push-T actions are absolute PD target positions, so the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goal collapsed to "put the pusher at point X". Median block displacement in the goal: 0.0 px.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two-line non-planner that commands the goal position and holds it scored 0.00 px at every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horizon (d=20/30/40), against flat CEM's 7.00/5.10/5.10 and hierarchical's 22.60/15.90/14.20.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 a monotone, one-step-deep task there is nothing to decompose -- hierarchy losing was the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CORRECT outcome.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retro-explains most of our open puzzles: the null cost-weight sweep, block-error curves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identical across all three methods, a random walk scoring 80% "success". The block never had to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move, so nothing reasoning about the block could show an effect.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FIXED SINCE: goals now come from the same trajectory, rejected unless the block actually moved.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Contact 0% -&gt; 100%, median block travel 102.8px. CAVEAT TO SAY OUT LOUD: the full head-to-head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has NOT been re-run under the fixed distribution, so treat every flat-vs-hierarchical number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 far as void, not as a baseline.</a:t>
            </a:r>
            <a:endParaRPr/>
          </a:p>
        </p:txBody>
      </p:sp>
      <p:sp>
        <p:nvSpPr>
          <p:cNvPr id="255" name="Google Shape;255;g3f894216742_3_10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f8a323a813_0_2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g3f8a323a813_0_27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3f8a323a813_0_27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f8a323a813_0_4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g3f8a323a813_0_47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g3f8a323a813_0_47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f8a323a813_0_8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g3f8a323a813_0_8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g3f8a323a813_0_8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f89e193c76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9" name="Google Shape;329;g3f89e193c76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g3f89e193c76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f89e193c76_0_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1" name="Google Shape;341;g3f89e193c76_0_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g3f89e193c76_0_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f8957f8c6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f8957f8c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f8957f8c6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f8957f8c6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50" y="1597819"/>
            <a:ext cx="58293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00" y="2914650"/>
            <a:ext cx="48006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35" y="3305175"/>
            <a:ext cx="58293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35" y="2180035"/>
            <a:ext cx="58293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15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0" y="1151335"/>
            <a:ext cx="303014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0" y="1631156"/>
            <a:ext cx="3030141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769" y="1151335"/>
            <a:ext cx="303133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769" y="1631156"/>
            <a:ext cx="3031331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0" y="204788"/>
            <a:ext cx="225623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287" y="204788"/>
            <a:ext cx="3833813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0" y="1076325"/>
            <a:ext cx="225623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16" y="3600450"/>
            <a:ext cx="41148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16" y="459581"/>
            <a:ext cx="41148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16" y="4025503"/>
            <a:ext cx="41148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764" y="-188714"/>
            <a:ext cx="3394472" cy="6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253" y="1628775"/>
            <a:ext cx="4388644" cy="154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03" y="142875"/>
            <a:ext cx="4388644" cy="45148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gif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6"/>
          <p:cNvSpPr txBox="1"/>
          <p:nvPr>
            <p:ph type="ctrTitle"/>
          </p:nvPr>
        </p:nvSpPr>
        <p:spPr>
          <a:xfrm>
            <a:off x="311700" y="528675"/>
            <a:ext cx="8520600" cy="396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Defne: intro, why VLA is not enough </a:t>
            </a:r>
            <a:endParaRPr sz="16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Arda: World action model Architectures </a:t>
            </a:r>
            <a:endParaRPr sz="16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Oğuz: Low level world model, why reinforcement learning isn't enough in these scenarios, it works with a greedy algorithm and how greedy the greedy algorithms work</a:t>
            </a:r>
            <a:endParaRPr sz="16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Başak: CEM planner</a:t>
            </a:r>
            <a:endParaRPr sz="16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Shayan: High Level world model</a:t>
            </a:r>
            <a:endParaRPr sz="16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Some gifs at the end</a:t>
            </a:r>
            <a:endParaRPr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7"/>
          <p:cNvSpPr txBox="1"/>
          <p:nvPr/>
        </p:nvSpPr>
        <p:spPr>
          <a:xfrm>
            <a:off x="582930" y="377190"/>
            <a:ext cx="7977911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5B8C"/>
                </a:solidFill>
                <a:latin typeface="Consolas"/>
                <a:ea typeface="Consolas"/>
                <a:cs typeface="Consolas"/>
                <a:sym typeface="Consolas"/>
              </a:rPr>
              <a:t>INZVA HWM-0.2</a:t>
            </a:r>
            <a:endParaRPr sz="1100"/>
          </a:p>
        </p:txBody>
      </p:sp>
      <p:sp>
        <p:nvSpPr>
          <p:cNvPr id="137" name="Google Shape;137;p27"/>
          <p:cNvSpPr txBox="1"/>
          <p:nvPr/>
        </p:nvSpPr>
        <p:spPr>
          <a:xfrm>
            <a:off x="582930" y="651510"/>
            <a:ext cx="7977911" cy="720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000" u="none" cap="none" strike="noStrike">
                <a:solidFill>
                  <a:srgbClr val="14181E"/>
                </a:solidFill>
                <a:latin typeface="Georgia"/>
                <a:ea typeface="Georgia"/>
                <a:cs typeface="Georgia"/>
                <a:sym typeface="Georgia"/>
              </a:rPr>
              <a:t>Push a T. Don't Grab It.</a:t>
            </a:r>
            <a:endParaRPr sz="1100"/>
          </a:p>
        </p:txBody>
      </p:sp>
      <p:sp>
        <p:nvSpPr>
          <p:cNvPr id="138" name="Google Shape;138;p27"/>
          <p:cNvSpPr/>
          <p:nvPr/>
        </p:nvSpPr>
        <p:spPr>
          <a:xfrm>
            <a:off x="582930" y="1453896"/>
            <a:ext cx="7977911" cy="19050"/>
          </a:xfrm>
          <a:prstGeom prst="rect">
            <a:avLst/>
          </a:prstGeom>
          <a:solidFill>
            <a:srgbClr val="14181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7"/>
          <p:cNvSpPr txBox="1"/>
          <p:nvPr/>
        </p:nvSpPr>
        <p:spPr>
          <a:xfrm>
            <a:off x="582930" y="1728216"/>
            <a:ext cx="7977911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F5B8C"/>
                </a:solidFill>
                <a:latin typeface="Calibri"/>
                <a:ea typeface="Calibri"/>
                <a:cs typeface="Calibri"/>
                <a:sym typeface="Calibri"/>
              </a:rPr>
              <a:t>—  </a:t>
            </a:r>
            <a:r>
              <a:rPr b="1" i="0" lang="en" sz="12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The task</a:t>
            </a:r>
            <a:r>
              <a:rPr b="0" i="0" lang="en" sz="12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 — Push-T. A pusher must move a T-shaped block into a target pose. It can only push, never grasp.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F5B8C"/>
                </a:solidFill>
                <a:latin typeface="Calibri"/>
                <a:ea typeface="Calibri"/>
                <a:cs typeface="Calibri"/>
                <a:sym typeface="Calibri"/>
              </a:rPr>
              <a:t>—  </a:t>
            </a:r>
            <a:r>
              <a:rPr b="1" i="0" lang="en" sz="12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Why that's hard</a:t>
            </a:r>
            <a:r>
              <a:rPr b="0" i="0" lang="en" sz="12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 — to rotate the T, you often have to back away and travel around it first.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F5B8C"/>
                </a:solidFill>
                <a:latin typeface="Calibri"/>
                <a:ea typeface="Calibri"/>
                <a:cs typeface="Calibri"/>
                <a:sym typeface="Calibri"/>
              </a:rPr>
              <a:t>—  </a:t>
            </a:r>
            <a:r>
              <a:rPr b="1" i="0" lang="en" sz="12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The usual answer</a:t>
            </a:r>
            <a:r>
              <a:rPr b="0" i="0" lang="en" sz="12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 — a policy. See an image, output an action, react.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F5B8C"/>
                </a:solidFill>
                <a:latin typeface="Calibri"/>
                <a:ea typeface="Calibri"/>
                <a:cs typeface="Calibri"/>
                <a:sym typeface="Calibri"/>
              </a:rPr>
              <a:t>—  </a:t>
            </a:r>
            <a:r>
              <a:rPr b="1" i="0" lang="en" sz="12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Ours</a:t>
            </a:r>
            <a:r>
              <a:rPr b="0" i="0" lang="en" sz="12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 — learn a model that predicts what </a:t>
            </a:r>
            <a:r>
              <a:rPr b="0" i="1" lang="en" sz="12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would</a:t>
            </a:r>
            <a:r>
              <a:rPr b="0" i="0" lang="en" sz="12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 happen, then search over imagined futures before moving.</a:t>
            </a:r>
            <a:endParaRPr sz="1100"/>
          </a:p>
        </p:txBody>
      </p:sp>
      <p:sp>
        <p:nvSpPr>
          <p:cNvPr id="140" name="Google Shape;140;p27"/>
          <p:cNvSpPr/>
          <p:nvPr/>
        </p:nvSpPr>
        <p:spPr>
          <a:xfrm>
            <a:off x="582930" y="3806190"/>
            <a:ext cx="7977911" cy="78867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F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7"/>
          <p:cNvSpPr txBox="1"/>
          <p:nvPr/>
        </p:nvSpPr>
        <p:spPr>
          <a:xfrm>
            <a:off x="857250" y="3963924"/>
            <a:ext cx="7429271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Don't react. Imagine, then decide.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566270"/>
                </a:solidFill>
                <a:latin typeface="Calibri"/>
                <a:ea typeface="Calibri"/>
                <a:cs typeface="Calibri"/>
                <a:sym typeface="Calibri"/>
              </a:rPr>
              <a:t>That model is a world model — and the intelligence lives in the search at test time, not in the weights.</a:t>
            </a:r>
            <a:endParaRPr sz="1100"/>
          </a:p>
        </p:txBody>
      </p:sp>
      <p:sp>
        <p:nvSpPr>
          <p:cNvPr id="142" name="Google Shape;142;p27"/>
          <p:cNvSpPr txBox="1"/>
          <p:nvPr/>
        </p:nvSpPr>
        <p:spPr>
          <a:xfrm>
            <a:off x="7737881" y="4786884"/>
            <a:ext cx="82296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C96A2"/>
                </a:solidFill>
                <a:latin typeface="Consolas"/>
                <a:ea typeface="Consolas"/>
                <a:cs typeface="Consolas"/>
                <a:sym typeface="Consolas"/>
              </a:rPr>
              <a:t>1 / 4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8"/>
          <p:cNvSpPr txBox="1"/>
          <p:nvPr/>
        </p:nvSpPr>
        <p:spPr>
          <a:xfrm>
            <a:off x="582930" y="377190"/>
            <a:ext cx="7977911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5B8C"/>
                </a:solidFill>
                <a:latin typeface="Consolas"/>
                <a:ea typeface="Consolas"/>
                <a:cs typeface="Consolas"/>
                <a:sym typeface="Consolas"/>
              </a:rPr>
              <a:t>THE HIERARCHY, AND THE PAPER</a:t>
            </a:r>
            <a:endParaRPr sz="1100"/>
          </a:p>
        </p:txBody>
      </p:sp>
      <p:sp>
        <p:nvSpPr>
          <p:cNvPr id="149" name="Google Shape;149;p28"/>
          <p:cNvSpPr txBox="1"/>
          <p:nvPr/>
        </p:nvSpPr>
        <p:spPr>
          <a:xfrm>
            <a:off x="582930" y="651510"/>
            <a:ext cx="7977911" cy="720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000" u="none" cap="none" strike="noStrike">
                <a:solidFill>
                  <a:srgbClr val="14181E"/>
                </a:solidFill>
                <a:latin typeface="Georgia"/>
                <a:ea typeface="Georgia"/>
                <a:cs typeface="Georgia"/>
                <a:sym typeface="Georgia"/>
              </a:rPr>
              <a:t>Does Hierarchy Survive at 3M Parameters?</a:t>
            </a:r>
            <a:endParaRPr sz="1100"/>
          </a:p>
        </p:txBody>
      </p:sp>
      <p:sp>
        <p:nvSpPr>
          <p:cNvPr id="150" name="Google Shape;150;p28"/>
          <p:cNvSpPr/>
          <p:nvPr/>
        </p:nvSpPr>
        <p:spPr>
          <a:xfrm>
            <a:off x="582930" y="1550609"/>
            <a:ext cx="7977900" cy="19200"/>
          </a:xfrm>
          <a:prstGeom prst="rect">
            <a:avLst/>
          </a:prstGeom>
          <a:solidFill>
            <a:srgbClr val="14181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8"/>
          <p:cNvSpPr/>
          <p:nvPr/>
        </p:nvSpPr>
        <p:spPr>
          <a:xfrm>
            <a:off x="582930" y="1659636"/>
            <a:ext cx="7977911" cy="534924"/>
          </a:xfrm>
          <a:prstGeom prst="rect">
            <a:avLst/>
          </a:prstGeom>
          <a:solidFill>
            <a:srgbClr val="E2ECF5"/>
          </a:solidFill>
          <a:ln cap="flat" cmpd="sng" w="9525">
            <a:solidFill>
              <a:srgbClr val="1F5B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8"/>
          <p:cNvSpPr txBox="1"/>
          <p:nvPr/>
        </p:nvSpPr>
        <p:spPr>
          <a:xfrm>
            <a:off x="802386" y="1748790"/>
            <a:ext cx="753899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1F5B8C"/>
                </a:solidFill>
                <a:latin typeface="Consolas"/>
                <a:ea typeface="Consolas"/>
                <a:cs typeface="Consolas"/>
                <a:sym typeface="Consolas"/>
              </a:rPr>
              <a:t>THE PAPER   </a:t>
            </a:r>
            <a:r>
              <a:rPr b="0" i="0" lang="en" sz="11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Assran et al., </a:t>
            </a:r>
            <a:r>
              <a:rPr b="1" i="0" lang="en" sz="11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Hierarchical Planning with Latent World Models</a:t>
            </a:r>
            <a:r>
              <a:rPr b="0" i="0" lang="en" sz="11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  (Meta, 2026)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566270"/>
                </a:solidFill>
                <a:latin typeface="Calibri"/>
                <a:ea typeface="Calibri"/>
                <a:cs typeface="Calibri"/>
                <a:sym typeface="Calibri"/>
              </a:rPr>
              <a:t>Built on DINO-WM (Zhou et al., 2024) and PLDM (Sobal et al., 2025).</a:t>
            </a:r>
            <a:endParaRPr sz="1100"/>
          </a:p>
        </p:txBody>
      </p:sp>
      <p:sp>
        <p:nvSpPr>
          <p:cNvPr id="153" name="Google Shape;153;p28"/>
          <p:cNvSpPr txBox="1"/>
          <p:nvPr/>
        </p:nvSpPr>
        <p:spPr>
          <a:xfrm>
            <a:off x="582930" y="2345436"/>
            <a:ext cx="3714635" cy="1303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5B8C"/>
                </a:solidFill>
                <a:latin typeface="Calibri"/>
                <a:ea typeface="Calibri"/>
                <a:cs typeface="Calibri"/>
                <a:sym typeface="Calibri"/>
              </a:rPr>
              <a:t>—  </a:t>
            </a:r>
            <a:r>
              <a:rPr b="1" i="0" lang="en" sz="11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Low level</a:t>
            </a:r>
            <a:r>
              <a:rPr b="0" i="0" lang="en" sz="11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 — predicts one step at a time. Plans primitive moves over ~10 steps.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5B8C"/>
                </a:solidFill>
                <a:latin typeface="Calibri"/>
                <a:ea typeface="Calibri"/>
                <a:cs typeface="Calibri"/>
                <a:sym typeface="Calibri"/>
              </a:rPr>
              <a:t>—  </a:t>
            </a:r>
            <a:r>
              <a:rPr b="1" i="0" lang="en" sz="11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High level</a:t>
            </a:r>
            <a:r>
              <a:rPr b="0" i="0" lang="en" sz="11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 — predicts whole chunks of 5–15 steps at once. It places subgoals.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5B8C"/>
                </a:solidFill>
                <a:latin typeface="Calibri"/>
                <a:ea typeface="Calibri"/>
                <a:cs typeface="Calibri"/>
                <a:sym typeface="Calibri"/>
              </a:rPr>
              <a:t>—  </a:t>
            </a:r>
            <a:r>
              <a:rPr b="0" i="0" lang="en" sz="11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Both share </a:t>
            </a:r>
            <a:r>
              <a:rPr b="1" i="0" lang="en" sz="11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one 64-dim latent</a:t>
            </a:r>
            <a:r>
              <a:rPr b="0" i="0" lang="en" sz="11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, so a subgoal drops straight into the low-level planner.</a:t>
            </a:r>
            <a:endParaRPr sz="1100"/>
          </a:p>
        </p:txBody>
      </p:sp>
      <p:sp>
        <p:nvSpPr>
          <p:cNvPr id="154" name="Google Shape;154;p28"/>
          <p:cNvSpPr txBox="1"/>
          <p:nvPr/>
        </p:nvSpPr>
        <p:spPr>
          <a:xfrm>
            <a:off x="582930" y="3689604"/>
            <a:ext cx="3714635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566270"/>
                </a:solidFill>
                <a:latin typeface="Calibri"/>
                <a:ea typeface="Calibri"/>
                <a:cs typeface="Calibri"/>
                <a:sym typeface="Calibri"/>
              </a:rPr>
              <a:t>Like a map app: one part picks the route, the other steers.</a:t>
            </a:r>
            <a:endParaRPr sz="1100"/>
          </a:p>
        </p:txBody>
      </p:sp>
      <p:sp>
        <p:nvSpPr>
          <p:cNvPr id="155" name="Google Shape;155;p28"/>
          <p:cNvSpPr/>
          <p:nvPr/>
        </p:nvSpPr>
        <p:spPr>
          <a:xfrm>
            <a:off x="4846205" y="2345436"/>
            <a:ext cx="2788805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F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8"/>
          <p:cNvSpPr txBox="1"/>
          <p:nvPr/>
        </p:nvSpPr>
        <p:spPr>
          <a:xfrm>
            <a:off x="5010797" y="2434590"/>
            <a:ext cx="2459621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4181E"/>
                </a:solidFill>
                <a:latin typeface="Consolas"/>
                <a:ea typeface="Consolas"/>
                <a:cs typeface="Consolas"/>
                <a:sym typeface="Consolas"/>
              </a:rPr>
              <a:t>HIGH LEVEL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566270"/>
                </a:solidFill>
                <a:latin typeface="Calibri"/>
                <a:ea typeface="Calibri"/>
                <a:cs typeface="Calibri"/>
                <a:sym typeface="Calibri"/>
              </a:rPr>
              <a:t>searches macro-actions — chunks of 5–15 steps</a:t>
            </a:r>
            <a:endParaRPr sz="1100"/>
          </a:p>
        </p:txBody>
      </p:sp>
      <p:sp>
        <p:nvSpPr>
          <p:cNvPr id="157" name="Google Shape;157;p28"/>
          <p:cNvSpPr/>
          <p:nvPr/>
        </p:nvSpPr>
        <p:spPr>
          <a:xfrm>
            <a:off x="6151454" y="2784348"/>
            <a:ext cx="178308" cy="198882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1F5B8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8"/>
          <p:cNvSpPr txBox="1"/>
          <p:nvPr/>
        </p:nvSpPr>
        <p:spPr>
          <a:xfrm>
            <a:off x="6418916" y="2808350"/>
            <a:ext cx="13716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1F5B8C"/>
                </a:solidFill>
                <a:latin typeface="Consolas"/>
                <a:ea typeface="Consolas"/>
                <a:cs typeface="Consolas"/>
                <a:sym typeface="Consolas"/>
              </a:rPr>
              <a:t>subgoal</a:t>
            </a:r>
            <a:endParaRPr sz="1100"/>
          </a:p>
        </p:txBody>
      </p:sp>
      <p:sp>
        <p:nvSpPr>
          <p:cNvPr id="159" name="Google Shape;159;p28"/>
          <p:cNvSpPr/>
          <p:nvPr/>
        </p:nvSpPr>
        <p:spPr>
          <a:xfrm>
            <a:off x="4846205" y="2983230"/>
            <a:ext cx="2788805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F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8"/>
          <p:cNvSpPr txBox="1"/>
          <p:nvPr/>
        </p:nvSpPr>
        <p:spPr>
          <a:xfrm>
            <a:off x="5010797" y="3072384"/>
            <a:ext cx="2459621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4181E"/>
                </a:solidFill>
                <a:latin typeface="Consolas"/>
                <a:ea typeface="Consolas"/>
                <a:cs typeface="Consolas"/>
                <a:sym typeface="Consolas"/>
              </a:rPr>
              <a:t>LOW LEVEL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566270"/>
                </a:solidFill>
                <a:latin typeface="Calibri"/>
                <a:ea typeface="Calibri"/>
                <a:cs typeface="Calibri"/>
                <a:sym typeface="Calibri"/>
              </a:rPr>
              <a:t>searches primitive moves — up to 10 steps</a:t>
            </a:r>
            <a:endParaRPr sz="1100"/>
          </a:p>
        </p:txBody>
      </p:sp>
      <p:sp>
        <p:nvSpPr>
          <p:cNvPr id="161" name="Google Shape;161;p28"/>
          <p:cNvSpPr/>
          <p:nvPr/>
        </p:nvSpPr>
        <p:spPr>
          <a:xfrm>
            <a:off x="6151454" y="3422142"/>
            <a:ext cx="178308" cy="198882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1F5B8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8"/>
          <p:cNvSpPr txBox="1"/>
          <p:nvPr/>
        </p:nvSpPr>
        <p:spPr>
          <a:xfrm>
            <a:off x="6418916" y="3446144"/>
            <a:ext cx="13716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1F5B8C"/>
                </a:solidFill>
                <a:latin typeface="Consolas"/>
                <a:ea typeface="Consolas"/>
                <a:cs typeface="Consolas"/>
                <a:sym typeface="Consolas"/>
              </a:rPr>
              <a:t>action</a:t>
            </a:r>
            <a:endParaRPr sz="1100"/>
          </a:p>
        </p:txBody>
      </p:sp>
      <p:sp>
        <p:nvSpPr>
          <p:cNvPr id="163" name="Google Shape;163;p28"/>
          <p:cNvSpPr/>
          <p:nvPr/>
        </p:nvSpPr>
        <p:spPr>
          <a:xfrm>
            <a:off x="4846205" y="3621024"/>
            <a:ext cx="2788805" cy="288036"/>
          </a:xfrm>
          <a:prstGeom prst="rect">
            <a:avLst/>
          </a:prstGeom>
          <a:solidFill>
            <a:srgbClr val="F1F4F7"/>
          </a:solidFill>
          <a:ln cap="flat" cmpd="sng" w="9525">
            <a:solidFill>
              <a:srgbClr val="D9DF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8"/>
          <p:cNvSpPr txBox="1"/>
          <p:nvPr/>
        </p:nvSpPr>
        <p:spPr>
          <a:xfrm>
            <a:off x="5010797" y="3710178"/>
            <a:ext cx="2459621" cy="150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566270"/>
                </a:solidFill>
                <a:latin typeface="Consolas"/>
                <a:ea typeface="Consolas"/>
                <a:cs typeface="Consolas"/>
                <a:sym typeface="Consolas"/>
              </a:rPr>
              <a:t>THE WORLD</a:t>
            </a:r>
            <a:endParaRPr sz="1100"/>
          </a:p>
        </p:txBody>
      </p:sp>
      <p:sp>
        <p:nvSpPr>
          <p:cNvPr id="165" name="Google Shape;165;p28"/>
          <p:cNvSpPr/>
          <p:nvPr/>
        </p:nvSpPr>
        <p:spPr>
          <a:xfrm>
            <a:off x="582930" y="4046220"/>
            <a:ext cx="2659304" cy="65151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F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8"/>
          <p:cNvSpPr txBox="1"/>
          <p:nvPr/>
        </p:nvSpPr>
        <p:spPr>
          <a:xfrm>
            <a:off x="754380" y="4183380"/>
            <a:ext cx="2316404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14181E"/>
                </a:solidFill>
                <a:latin typeface="Consolas"/>
                <a:ea typeface="Consolas"/>
                <a:cs typeface="Consolas"/>
                <a:sym typeface="Consolas"/>
              </a:rPr>
              <a:t>18,500 → ~200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8C96A2"/>
                </a:solidFill>
                <a:latin typeface="Consolas"/>
                <a:ea typeface="Consolas"/>
                <a:cs typeface="Consolas"/>
                <a:sym typeface="Consolas"/>
              </a:rPr>
              <a:t>TRAJECTORIES  ·  PAPER → US</a:t>
            </a:r>
            <a:endParaRPr sz="1100"/>
          </a:p>
        </p:txBody>
      </p:sp>
      <p:sp>
        <p:nvSpPr>
          <p:cNvPr id="167" name="Google Shape;167;p28"/>
          <p:cNvSpPr/>
          <p:nvPr/>
        </p:nvSpPr>
        <p:spPr>
          <a:xfrm>
            <a:off x="3242234" y="4046220"/>
            <a:ext cx="2659303" cy="65151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F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8"/>
          <p:cNvSpPr txBox="1"/>
          <p:nvPr/>
        </p:nvSpPr>
        <p:spPr>
          <a:xfrm>
            <a:off x="3413684" y="4183380"/>
            <a:ext cx="2316404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14181E"/>
                </a:solidFill>
                <a:latin typeface="Consolas"/>
                <a:ea typeface="Consolas"/>
                <a:cs typeface="Consolas"/>
                <a:sym typeface="Consolas"/>
              </a:rPr>
              <a:t>1.3B → 3.15M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8C96A2"/>
                </a:solidFill>
                <a:latin typeface="Consolas"/>
                <a:ea typeface="Consolas"/>
                <a:cs typeface="Consolas"/>
                <a:sym typeface="Consolas"/>
              </a:rPr>
              <a:t>PARAMETERS  ·  PAPER → US</a:t>
            </a:r>
            <a:endParaRPr sz="1100"/>
          </a:p>
        </p:txBody>
      </p:sp>
      <p:sp>
        <p:nvSpPr>
          <p:cNvPr id="169" name="Google Shape;169;p28"/>
          <p:cNvSpPr/>
          <p:nvPr/>
        </p:nvSpPr>
        <p:spPr>
          <a:xfrm>
            <a:off x="5901537" y="4046220"/>
            <a:ext cx="2659303" cy="65151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F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8"/>
          <p:cNvSpPr txBox="1"/>
          <p:nvPr/>
        </p:nvSpPr>
        <p:spPr>
          <a:xfrm>
            <a:off x="6072987" y="4183380"/>
            <a:ext cx="2316403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14181E"/>
                </a:solidFill>
                <a:latin typeface="Consolas"/>
                <a:ea typeface="Consolas"/>
                <a:cs typeface="Consolas"/>
                <a:sym typeface="Consolas"/>
              </a:rPr>
              <a:t>Cluster → T4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8C96A2"/>
                </a:solidFill>
                <a:latin typeface="Consolas"/>
                <a:ea typeface="Consolas"/>
                <a:cs typeface="Consolas"/>
                <a:sym typeface="Consolas"/>
              </a:rPr>
              <a:t>HARDWARE  ·  A100s → ONE T4</a:t>
            </a:r>
            <a:endParaRPr sz="1100"/>
          </a:p>
        </p:txBody>
      </p:sp>
      <p:sp>
        <p:nvSpPr>
          <p:cNvPr id="171" name="Google Shape;171;p28"/>
          <p:cNvSpPr txBox="1"/>
          <p:nvPr/>
        </p:nvSpPr>
        <p:spPr>
          <a:xfrm>
            <a:off x="7737881" y="4786884"/>
            <a:ext cx="82296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C96A2"/>
                </a:solidFill>
                <a:latin typeface="Consolas"/>
                <a:ea typeface="Consolas"/>
                <a:cs typeface="Consolas"/>
                <a:sym typeface="Consolas"/>
              </a:rPr>
              <a:t>2 / 4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9"/>
          <p:cNvSpPr txBox="1"/>
          <p:nvPr/>
        </p:nvSpPr>
        <p:spPr>
          <a:xfrm>
            <a:off x="582930" y="377190"/>
            <a:ext cx="7977911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5B8C"/>
                </a:solidFill>
                <a:latin typeface="Consolas"/>
                <a:ea typeface="Consolas"/>
                <a:cs typeface="Consolas"/>
                <a:sym typeface="Consolas"/>
              </a:rPr>
              <a:t>RECURRENCE</a:t>
            </a:r>
            <a:endParaRPr sz="1100"/>
          </a:p>
        </p:txBody>
      </p:sp>
      <p:sp>
        <p:nvSpPr>
          <p:cNvPr id="178" name="Google Shape;178;p29"/>
          <p:cNvSpPr txBox="1"/>
          <p:nvPr/>
        </p:nvSpPr>
        <p:spPr>
          <a:xfrm>
            <a:off x="582930" y="651510"/>
            <a:ext cx="7977911" cy="720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000" u="none" cap="none" strike="noStrike">
                <a:solidFill>
                  <a:srgbClr val="14181E"/>
                </a:solidFill>
                <a:latin typeface="Georgia"/>
                <a:ea typeface="Georgia"/>
                <a:cs typeface="Georgia"/>
                <a:sym typeface="Georgia"/>
              </a:rPr>
              <a:t>The Model Needs a Memory</a:t>
            </a:r>
            <a:endParaRPr sz="1100"/>
          </a:p>
        </p:txBody>
      </p:sp>
      <p:sp>
        <p:nvSpPr>
          <p:cNvPr id="179" name="Google Shape;179;p29"/>
          <p:cNvSpPr/>
          <p:nvPr/>
        </p:nvSpPr>
        <p:spPr>
          <a:xfrm>
            <a:off x="582930" y="1453896"/>
            <a:ext cx="7977911" cy="19050"/>
          </a:xfrm>
          <a:prstGeom prst="rect">
            <a:avLst/>
          </a:prstGeom>
          <a:solidFill>
            <a:srgbClr val="14181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9"/>
          <p:cNvSpPr txBox="1"/>
          <p:nvPr/>
        </p:nvSpPr>
        <p:spPr>
          <a:xfrm>
            <a:off x="582930" y="1728216"/>
            <a:ext cx="3714635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5B8C"/>
                </a:solidFill>
                <a:latin typeface="Calibri"/>
                <a:ea typeface="Calibri"/>
                <a:cs typeface="Calibri"/>
                <a:sym typeface="Calibri"/>
              </a:rPr>
              <a:t>—  </a:t>
            </a:r>
            <a:r>
              <a:rPr b="0" i="0" lang="en" sz="11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The predictor's job: </a:t>
            </a:r>
            <a:r>
              <a:rPr b="1" i="0" lang="en" sz="11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given where we are and what we do, what happens next?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5B8C"/>
                </a:solidFill>
                <a:latin typeface="Calibri"/>
                <a:ea typeface="Calibri"/>
                <a:cs typeface="Calibri"/>
                <a:sym typeface="Calibri"/>
              </a:rPr>
              <a:t>—  </a:t>
            </a:r>
            <a:r>
              <a:rPr b="0" i="0" lang="en" sz="11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An MLP sees only the current frame. It cannot know </a:t>
            </a:r>
            <a:r>
              <a:rPr b="0" i="1" lang="en" sz="11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“I am touching the block right now.”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5B8C"/>
                </a:solidFill>
                <a:latin typeface="Calibri"/>
                <a:ea typeface="Calibri"/>
                <a:cs typeface="Calibri"/>
                <a:sym typeface="Calibri"/>
              </a:rPr>
              <a:t>—  </a:t>
            </a:r>
            <a:r>
              <a:rPr b="0" i="0" lang="en" sz="11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i="0" lang="en" sz="11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GRU</a:t>
            </a:r>
            <a:r>
              <a:rPr b="0" i="0" lang="en" sz="11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 carries a hidden state and updates it at every step.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5B8C"/>
                </a:solidFill>
                <a:latin typeface="Calibri"/>
                <a:ea typeface="Calibri"/>
                <a:cs typeface="Calibri"/>
                <a:sym typeface="Calibri"/>
              </a:rPr>
              <a:t>—  </a:t>
            </a:r>
            <a:r>
              <a:rPr b="1" i="0" lang="en" sz="11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Update gate</a:t>
            </a:r>
            <a:r>
              <a:rPr b="0" i="0" lang="en" sz="11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 — how much of the past to keep.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5B8C"/>
                </a:solidFill>
                <a:latin typeface="Calibri"/>
                <a:ea typeface="Calibri"/>
                <a:cs typeface="Calibri"/>
                <a:sym typeface="Calibri"/>
              </a:rPr>
              <a:t>—  </a:t>
            </a:r>
            <a:r>
              <a:rPr b="1" i="0" lang="en" sz="11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Reset gate</a:t>
            </a:r>
            <a:r>
              <a:rPr b="0" i="0" lang="en" sz="11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 — how much to forget.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5B8C"/>
                </a:solidFill>
                <a:latin typeface="Calibri"/>
                <a:ea typeface="Calibri"/>
                <a:cs typeface="Calibri"/>
                <a:sym typeface="Calibri"/>
              </a:rPr>
              <a:t>—  </a:t>
            </a:r>
            <a:r>
              <a:rPr b="0" i="0" lang="en" sz="11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Two gates, not three. Cheaper than an LSTM — which matters at our budget.</a:t>
            </a:r>
            <a:endParaRPr sz="1100"/>
          </a:p>
        </p:txBody>
      </p:sp>
      <p:sp>
        <p:nvSpPr>
          <p:cNvPr id="181" name="Google Shape;181;p29"/>
          <p:cNvSpPr txBox="1"/>
          <p:nvPr/>
        </p:nvSpPr>
        <p:spPr>
          <a:xfrm>
            <a:off x="4846205" y="1728216"/>
            <a:ext cx="371463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8C96A2"/>
                </a:solidFill>
                <a:latin typeface="Consolas"/>
                <a:ea typeface="Consolas"/>
                <a:cs typeface="Consolas"/>
                <a:sym typeface="Consolas"/>
              </a:rPr>
              <a:t>WHAT WE ACTUALLY RUN</a:t>
            </a:r>
            <a:endParaRPr sz="1100"/>
          </a:p>
        </p:txBody>
      </p:sp>
      <p:sp>
        <p:nvSpPr>
          <p:cNvPr id="182" name="Google Shape;182;p29"/>
          <p:cNvSpPr/>
          <p:nvPr/>
        </p:nvSpPr>
        <p:spPr>
          <a:xfrm>
            <a:off x="4846205" y="1975104"/>
            <a:ext cx="3714635" cy="1028700"/>
          </a:xfrm>
          <a:prstGeom prst="rect">
            <a:avLst/>
          </a:prstGeom>
          <a:solidFill>
            <a:srgbClr val="F1F4F7"/>
          </a:solidFill>
          <a:ln cap="flat" cmpd="sng" w="9525">
            <a:solidFill>
              <a:srgbClr val="D9DF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9"/>
          <p:cNvSpPr txBox="1"/>
          <p:nvPr/>
        </p:nvSpPr>
        <p:spPr>
          <a:xfrm>
            <a:off x="5051945" y="2167128"/>
            <a:ext cx="330315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4181E"/>
                </a:solidFill>
                <a:latin typeface="Consolas"/>
                <a:ea typeface="Consolas"/>
                <a:cs typeface="Consolas"/>
                <a:sym typeface="Consolas"/>
              </a:rPr>
              <a:t>h(t)   = GRU( z(t), a(t), h(t−1) )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F5B8C"/>
                </a:solidFill>
                <a:latin typeface="Consolas"/>
                <a:ea typeface="Consolas"/>
                <a:cs typeface="Consolas"/>
                <a:sym typeface="Consolas"/>
              </a:rPr>
              <a:t>z(t+1) = z(t) + readout( h(t) )</a:t>
            </a:r>
            <a:endParaRPr sz="1100"/>
          </a:p>
        </p:txBody>
      </p:sp>
      <p:sp>
        <p:nvSpPr>
          <p:cNvPr id="184" name="Google Shape;184;p29"/>
          <p:cNvSpPr txBox="1"/>
          <p:nvPr/>
        </p:nvSpPr>
        <p:spPr>
          <a:xfrm>
            <a:off x="4846205" y="3175254"/>
            <a:ext cx="3714635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It predicts the </a:t>
            </a:r>
            <a:r>
              <a:rPr b="1" i="0" lang="en" sz="11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change</a:t>
            </a:r>
            <a:r>
              <a:rPr b="0" i="0" lang="en" sz="11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, not the state.</a:t>
            </a:r>
            <a:b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1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So “nothing happens” is the default, and the model only has to learn what a push actually does.</a:t>
            </a:r>
            <a:endParaRPr sz="1100"/>
          </a:p>
        </p:txBody>
      </p:sp>
      <p:sp>
        <p:nvSpPr>
          <p:cNvPr id="185" name="Google Shape;185;p29"/>
          <p:cNvSpPr txBox="1"/>
          <p:nvPr/>
        </p:nvSpPr>
        <p:spPr>
          <a:xfrm>
            <a:off x="582930" y="4629150"/>
            <a:ext cx="7017791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8C96A2"/>
                </a:solidFill>
                <a:latin typeface="Calibri"/>
                <a:ea typeface="Calibri"/>
                <a:cs typeface="Calibri"/>
                <a:sym typeface="Calibri"/>
              </a:rPr>
              <a:t>Ours: 2 layers, 384 hidden units, 1.58M parameters.</a:t>
            </a:r>
            <a:endParaRPr sz="1100"/>
          </a:p>
        </p:txBody>
      </p:sp>
      <p:sp>
        <p:nvSpPr>
          <p:cNvPr id="186" name="Google Shape;186;p29"/>
          <p:cNvSpPr txBox="1"/>
          <p:nvPr/>
        </p:nvSpPr>
        <p:spPr>
          <a:xfrm>
            <a:off x="7737881" y="4786884"/>
            <a:ext cx="82296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C96A2"/>
                </a:solidFill>
                <a:latin typeface="Consolas"/>
                <a:ea typeface="Consolas"/>
                <a:cs typeface="Consolas"/>
                <a:sym typeface="Consolas"/>
              </a:rPr>
              <a:t>3 / 4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0"/>
          <p:cNvSpPr txBox="1"/>
          <p:nvPr/>
        </p:nvSpPr>
        <p:spPr>
          <a:xfrm>
            <a:off x="582930" y="377190"/>
            <a:ext cx="7977911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5B8C"/>
                </a:solidFill>
                <a:latin typeface="Consolas"/>
                <a:ea typeface="Consolas"/>
                <a:cs typeface="Consolas"/>
                <a:sym typeface="Consolas"/>
              </a:rPr>
              <a:t>WHY VLA IS NOT ENOUGH</a:t>
            </a:r>
            <a:endParaRPr sz="1100"/>
          </a:p>
        </p:txBody>
      </p:sp>
      <p:sp>
        <p:nvSpPr>
          <p:cNvPr id="193" name="Google Shape;193;p30"/>
          <p:cNvSpPr txBox="1"/>
          <p:nvPr/>
        </p:nvSpPr>
        <p:spPr>
          <a:xfrm>
            <a:off x="582930" y="651510"/>
            <a:ext cx="7977911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4181E"/>
                </a:solidFill>
                <a:latin typeface="Georgia"/>
                <a:ea typeface="Georgia"/>
                <a:cs typeface="Georgia"/>
                <a:sym typeface="Georgia"/>
              </a:rPr>
              <a:t>A VLA Reacts.</a:t>
            </a:r>
            <a:b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2700" u="none" cap="none" strike="noStrike">
                <a:solidFill>
                  <a:srgbClr val="14181E"/>
                </a:solidFill>
                <a:latin typeface="Georgia"/>
                <a:ea typeface="Georgia"/>
                <a:cs typeface="Georgia"/>
                <a:sym typeface="Georgia"/>
              </a:rPr>
              <a:t>We Need Something That Imagines.</a:t>
            </a:r>
            <a:endParaRPr sz="1100"/>
          </a:p>
        </p:txBody>
      </p:sp>
      <p:sp>
        <p:nvSpPr>
          <p:cNvPr id="194" name="Google Shape;194;p30"/>
          <p:cNvSpPr/>
          <p:nvPr/>
        </p:nvSpPr>
        <p:spPr>
          <a:xfrm>
            <a:off x="582930" y="1762506"/>
            <a:ext cx="7977911" cy="19050"/>
          </a:xfrm>
          <a:prstGeom prst="rect">
            <a:avLst/>
          </a:prstGeom>
          <a:solidFill>
            <a:srgbClr val="14181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30"/>
          <p:cNvSpPr txBox="1"/>
          <p:nvPr/>
        </p:nvSpPr>
        <p:spPr>
          <a:xfrm>
            <a:off x="582930" y="2036826"/>
            <a:ext cx="371463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5B8C"/>
                </a:solidFill>
                <a:latin typeface="Calibri"/>
                <a:ea typeface="Calibri"/>
                <a:cs typeface="Calibri"/>
                <a:sym typeface="Calibri"/>
              </a:rPr>
              <a:t>—  </a:t>
            </a:r>
            <a:r>
              <a:rPr b="0" i="0" lang="en" sz="11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A VLA maps image + instruction → action. It </a:t>
            </a:r>
            <a:r>
              <a:rPr b="1" i="0" lang="en" sz="11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never simulates the consequence</a:t>
            </a:r>
            <a:r>
              <a:rPr b="0" i="0" lang="en" sz="11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5B8C"/>
                </a:solidFill>
                <a:latin typeface="Calibri"/>
                <a:ea typeface="Calibri"/>
                <a:cs typeface="Calibri"/>
                <a:sym typeface="Calibri"/>
              </a:rPr>
              <a:t>—  </a:t>
            </a:r>
            <a:r>
              <a:rPr b="0" i="0" lang="en" sz="11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It is </a:t>
            </a:r>
            <a:r>
              <a:rPr b="1" i="0" lang="en" sz="11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behavior cloning at scale</a:t>
            </a:r>
            <a:r>
              <a:rPr b="0" i="0" lang="en" sz="11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 — and it inherits the bias toward the average demo.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5B8C"/>
                </a:solidFill>
                <a:latin typeface="Calibri"/>
                <a:ea typeface="Calibri"/>
                <a:cs typeface="Calibri"/>
                <a:sym typeface="Calibri"/>
              </a:rPr>
              <a:t>—  </a:t>
            </a:r>
            <a:r>
              <a:rPr b="0" i="0" lang="en" sz="11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Our goal is </a:t>
            </a:r>
            <a:r>
              <a:rPr b="1" i="0" lang="en" sz="11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an image, not a sentence</a:t>
            </a:r>
            <a:r>
              <a:rPr b="0" i="0" lang="en" sz="11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. “This exact pose” has no words.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F5B8C"/>
                </a:solidFill>
                <a:latin typeface="Calibri"/>
                <a:ea typeface="Calibri"/>
                <a:cs typeface="Calibri"/>
                <a:sym typeface="Calibri"/>
              </a:rPr>
              <a:t>—  </a:t>
            </a:r>
            <a:r>
              <a:rPr b="0" i="0" lang="en" sz="11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To change what a VLA optimizes, you retrain it. We just change the cost function.</a:t>
            </a:r>
            <a:endParaRPr sz="1100"/>
          </a:p>
        </p:txBody>
      </p:sp>
      <p:sp>
        <p:nvSpPr>
          <p:cNvPr id="196" name="Google Shape;196;p30"/>
          <p:cNvSpPr/>
          <p:nvPr/>
        </p:nvSpPr>
        <p:spPr>
          <a:xfrm>
            <a:off x="4846205" y="2036826"/>
            <a:ext cx="3714635" cy="10629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F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30"/>
          <p:cNvSpPr txBox="1"/>
          <p:nvPr/>
        </p:nvSpPr>
        <p:spPr>
          <a:xfrm>
            <a:off x="5051945" y="2173986"/>
            <a:ext cx="330315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300" u="none" cap="none" strike="noStrike">
                <a:solidFill>
                  <a:srgbClr val="14181E"/>
                </a:solidFill>
                <a:latin typeface="Consolas"/>
                <a:ea typeface="Consolas"/>
                <a:cs typeface="Consolas"/>
                <a:sym typeface="Consolas"/>
              </a:rPr>
              <a:t>~2,000×</a:t>
            </a:r>
            <a:endParaRPr sz="1100"/>
          </a:p>
          <a:p>
            <a:pPr indent="0" lvl="0" marL="0" marR="0" rtl="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566270"/>
                </a:solidFill>
                <a:latin typeface="Calibri"/>
                <a:ea typeface="Calibri"/>
                <a:cs typeface="Calibri"/>
                <a:sym typeface="Calibri"/>
              </a:rPr>
              <a:t>smaller. A VLA like OpenVLA is around 7B parameters, trained on roughly a million robot episodes. Our whole system is 3.15M, on ~200 demos.</a:t>
            </a:r>
            <a:endParaRPr sz="1100"/>
          </a:p>
        </p:txBody>
      </p:sp>
      <p:sp>
        <p:nvSpPr>
          <p:cNvPr id="198" name="Google Shape;198;p30"/>
          <p:cNvSpPr txBox="1"/>
          <p:nvPr/>
        </p:nvSpPr>
        <p:spPr>
          <a:xfrm>
            <a:off x="4846205" y="3236976"/>
            <a:ext cx="3714635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The question isn't whether scale works.</a:t>
            </a:r>
            <a:b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13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It's what's left when you don't have it.</a:t>
            </a:r>
            <a:endParaRPr sz="1100"/>
          </a:p>
        </p:txBody>
      </p:sp>
      <p:sp>
        <p:nvSpPr>
          <p:cNvPr id="199" name="Google Shape;199;p30"/>
          <p:cNvSpPr txBox="1"/>
          <p:nvPr/>
        </p:nvSpPr>
        <p:spPr>
          <a:xfrm>
            <a:off x="582930" y="4629150"/>
            <a:ext cx="7017791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8C96A2"/>
                </a:solidFill>
                <a:latin typeface="Calibri"/>
                <a:ea typeface="Calibri"/>
                <a:cs typeface="Calibri"/>
                <a:sym typeface="Calibri"/>
              </a:rPr>
              <a:t>So: a small model that imagines, and a search on top of it. Arda will show the architecture.</a:t>
            </a:r>
            <a:endParaRPr sz="1100"/>
          </a:p>
        </p:txBody>
      </p:sp>
      <p:sp>
        <p:nvSpPr>
          <p:cNvPr id="200" name="Google Shape;200;p30"/>
          <p:cNvSpPr txBox="1"/>
          <p:nvPr/>
        </p:nvSpPr>
        <p:spPr>
          <a:xfrm>
            <a:off x="7737881" y="4786884"/>
            <a:ext cx="82296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C96A2"/>
                </a:solidFill>
                <a:latin typeface="Consolas"/>
                <a:ea typeface="Consolas"/>
                <a:cs typeface="Consolas"/>
                <a:sym typeface="Consolas"/>
              </a:rPr>
              <a:t>4 / 4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31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400" y="262525"/>
            <a:ext cx="7650974" cy="4303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2" name="Google Shape;212;p32" title="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9" name="Google Shape;219;p33" title="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4"/>
          <p:cNvSpPr txBox="1"/>
          <p:nvPr/>
        </p:nvSpPr>
        <p:spPr>
          <a:xfrm>
            <a:off x="582930" y="377190"/>
            <a:ext cx="7977911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5B8C"/>
                </a:solidFill>
                <a:latin typeface="Consolas"/>
                <a:ea typeface="Consolas"/>
                <a:cs typeface="Consolas"/>
                <a:sym typeface="Consolas"/>
              </a:rPr>
              <a:t>LOW-LEVEL WORLD MODEL</a:t>
            </a:r>
            <a:endParaRPr sz="1100"/>
          </a:p>
        </p:txBody>
      </p:sp>
      <p:sp>
        <p:nvSpPr>
          <p:cNvPr id="226" name="Google Shape;226;p34"/>
          <p:cNvSpPr txBox="1"/>
          <p:nvPr/>
        </p:nvSpPr>
        <p:spPr>
          <a:xfrm>
            <a:off x="582930" y="651510"/>
            <a:ext cx="7977911" cy="720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000" u="none" cap="none" strike="noStrike">
                <a:solidFill>
                  <a:srgbClr val="14181E"/>
                </a:solidFill>
                <a:latin typeface="Georgia"/>
                <a:ea typeface="Georgia"/>
                <a:cs typeface="Georgia"/>
                <a:sym typeface="Georgia"/>
              </a:rPr>
              <a:t>From 27,648 Pixels to 64 Numbers</a:t>
            </a:r>
            <a:endParaRPr sz="1100"/>
          </a:p>
        </p:txBody>
      </p:sp>
      <p:sp>
        <p:nvSpPr>
          <p:cNvPr id="227" name="Google Shape;227;p34"/>
          <p:cNvSpPr/>
          <p:nvPr/>
        </p:nvSpPr>
        <p:spPr>
          <a:xfrm>
            <a:off x="582930" y="1453896"/>
            <a:ext cx="7977911" cy="19050"/>
          </a:xfrm>
          <a:prstGeom prst="rect">
            <a:avLst/>
          </a:prstGeom>
          <a:solidFill>
            <a:srgbClr val="14181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34"/>
          <p:cNvSpPr txBox="1"/>
          <p:nvPr/>
        </p:nvSpPr>
        <p:spPr>
          <a:xfrm>
            <a:off x="582930" y="1728216"/>
            <a:ext cx="7977911" cy="1670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F5B8C"/>
                </a:solidFill>
                <a:latin typeface="Calibri"/>
                <a:ea typeface="Calibri"/>
                <a:cs typeface="Calibri"/>
                <a:sym typeface="Calibri"/>
              </a:rPr>
              <a:t>—  </a:t>
            </a:r>
            <a:r>
              <a:rPr b="1" i="0" lang="en" sz="12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Encoder</a:t>
            </a:r>
            <a:r>
              <a:rPr b="0" i="0" lang="en" sz="12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: a CNN, from scratch. 96×96 RGB → 64 numbers.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F5B8C"/>
                </a:solidFill>
                <a:latin typeface="Calibri"/>
                <a:ea typeface="Calibri"/>
                <a:cs typeface="Calibri"/>
                <a:sym typeface="Calibri"/>
              </a:rPr>
              <a:t>—  </a:t>
            </a:r>
            <a:r>
              <a:rPr b="1" i="0" lang="en" sz="12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Predictor</a:t>
            </a:r>
            <a:r>
              <a:rPr b="0" i="0" lang="en" sz="12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: a 2-layer GRU. It predicts </a:t>
            </a:r>
            <a:r>
              <a:rPr b="0" i="1" lang="en" sz="12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change</a:t>
            </a:r>
            <a:r>
              <a:rPr b="0" i="0" lang="en" sz="12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, not state.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F5B8C"/>
                </a:solidFill>
                <a:latin typeface="Calibri"/>
                <a:ea typeface="Calibri"/>
                <a:cs typeface="Calibri"/>
                <a:sym typeface="Calibri"/>
              </a:rPr>
              <a:t>—  </a:t>
            </a:r>
            <a:r>
              <a:rPr b="0" i="0" lang="en" sz="12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No decoder. VICReg is what stops the latent collapsing.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F5B8C"/>
                </a:solidFill>
                <a:latin typeface="Calibri"/>
                <a:ea typeface="Calibri"/>
                <a:cs typeface="Calibri"/>
                <a:sym typeface="Calibri"/>
              </a:rPr>
              <a:t>—  </a:t>
            </a:r>
            <a:r>
              <a:rPr b="1" i="0" lang="en" sz="12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r>
              <a:rPr b="0" i="0" lang="en" sz="12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: the data only tracks the pusher. We built a maze solver.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F5B8C"/>
                </a:solidFill>
                <a:latin typeface="Calibri"/>
                <a:ea typeface="Calibri"/>
                <a:cs typeface="Calibri"/>
                <a:sym typeface="Calibri"/>
              </a:rPr>
              <a:t>—  </a:t>
            </a:r>
            <a:r>
              <a:rPr b="1" i="0" lang="en" sz="12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The fix:</a:t>
            </a:r>
            <a:r>
              <a:rPr b="0" i="0" lang="en" sz="12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 contact-biased data, plus a head that must report the block's pose.</a:t>
            </a:r>
            <a:endParaRPr sz="1100"/>
          </a:p>
        </p:txBody>
      </p:sp>
      <p:sp>
        <p:nvSpPr>
          <p:cNvPr id="229" name="Google Shape;229;p34"/>
          <p:cNvSpPr/>
          <p:nvPr/>
        </p:nvSpPr>
        <p:spPr>
          <a:xfrm>
            <a:off x="582930" y="3737610"/>
            <a:ext cx="1994477" cy="8572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F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34"/>
          <p:cNvSpPr txBox="1"/>
          <p:nvPr/>
        </p:nvSpPr>
        <p:spPr>
          <a:xfrm>
            <a:off x="754380" y="3874770"/>
            <a:ext cx="165157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14181E"/>
                </a:solidFill>
                <a:latin typeface="Consolas"/>
                <a:ea typeface="Consolas"/>
                <a:cs typeface="Consolas"/>
                <a:sym typeface="Consolas"/>
              </a:rPr>
              <a:t>3.15M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8C96A2"/>
                </a:solidFill>
                <a:latin typeface="Consolas"/>
                <a:ea typeface="Consolas"/>
                <a:cs typeface="Consolas"/>
                <a:sym typeface="Consolas"/>
              </a:rPr>
              <a:t>TOTAL PARAMS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8C96A2"/>
                </a:solidFill>
                <a:latin typeface="Consolas"/>
                <a:ea typeface="Consolas"/>
                <a:cs typeface="Consolas"/>
                <a:sym typeface="Consolas"/>
              </a:rPr>
              <a:t>PAPER: ~325M</a:t>
            </a:r>
            <a:endParaRPr sz="1100"/>
          </a:p>
        </p:txBody>
      </p:sp>
      <p:sp>
        <p:nvSpPr>
          <p:cNvPr id="231" name="Google Shape;231;p34"/>
          <p:cNvSpPr/>
          <p:nvPr/>
        </p:nvSpPr>
        <p:spPr>
          <a:xfrm>
            <a:off x="2577407" y="3737610"/>
            <a:ext cx="1994477" cy="8572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F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34"/>
          <p:cNvSpPr txBox="1"/>
          <p:nvPr/>
        </p:nvSpPr>
        <p:spPr>
          <a:xfrm>
            <a:off x="2748857" y="3874770"/>
            <a:ext cx="165157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14181E"/>
                </a:solidFill>
                <a:latin typeface="Consolas"/>
                <a:ea typeface="Consolas"/>
                <a:cs typeface="Consolas"/>
                <a:sym typeface="Consolas"/>
              </a:rPr>
              <a:t>0.0131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8C96A2"/>
                </a:solidFill>
                <a:latin typeface="Consolas"/>
                <a:ea typeface="Consolas"/>
                <a:cs typeface="Consolas"/>
                <a:sym typeface="Consolas"/>
              </a:rPr>
              <a:t>VAL ROLLOUT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8C96A2"/>
                </a:solidFill>
                <a:latin typeface="Consolas"/>
                <a:ea typeface="Consolas"/>
                <a:cs typeface="Consolas"/>
                <a:sym typeface="Consolas"/>
              </a:rPr>
              <a:t>LATENT MSE</a:t>
            </a:r>
            <a:endParaRPr sz="1100"/>
          </a:p>
        </p:txBody>
      </p:sp>
      <p:sp>
        <p:nvSpPr>
          <p:cNvPr id="233" name="Google Shape;233;p34"/>
          <p:cNvSpPr/>
          <p:nvPr/>
        </p:nvSpPr>
        <p:spPr>
          <a:xfrm>
            <a:off x="4571885" y="3737610"/>
            <a:ext cx="1994477" cy="8572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F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4"/>
          <p:cNvSpPr txBox="1"/>
          <p:nvPr/>
        </p:nvSpPr>
        <p:spPr>
          <a:xfrm>
            <a:off x="4743335" y="3874770"/>
            <a:ext cx="165157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14181E"/>
                </a:solidFill>
                <a:latin typeface="Consolas"/>
                <a:ea typeface="Consolas"/>
                <a:cs typeface="Consolas"/>
                <a:sym typeface="Consolas"/>
              </a:rPr>
              <a:t>14.9 px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8C96A2"/>
                </a:solidFill>
                <a:latin typeface="Consolas"/>
                <a:ea typeface="Consolas"/>
                <a:cs typeface="Consolas"/>
                <a:sym typeface="Consolas"/>
              </a:rPr>
              <a:t>BLOCK POSE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8C96A2"/>
                </a:solidFill>
                <a:latin typeface="Consolas"/>
                <a:ea typeface="Consolas"/>
                <a:cs typeface="Consolas"/>
                <a:sym typeface="Consolas"/>
              </a:rPr>
              <a:t>SEEN</a:t>
            </a:r>
            <a:endParaRPr sz="1100"/>
          </a:p>
        </p:txBody>
      </p:sp>
      <p:sp>
        <p:nvSpPr>
          <p:cNvPr id="235" name="Google Shape;235;p34"/>
          <p:cNvSpPr/>
          <p:nvPr/>
        </p:nvSpPr>
        <p:spPr>
          <a:xfrm>
            <a:off x="6566363" y="3737610"/>
            <a:ext cx="1994477" cy="8572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F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34"/>
          <p:cNvSpPr txBox="1"/>
          <p:nvPr/>
        </p:nvSpPr>
        <p:spPr>
          <a:xfrm>
            <a:off x="6737813" y="3874770"/>
            <a:ext cx="165157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14181E"/>
                </a:solidFill>
                <a:latin typeface="Consolas"/>
                <a:ea typeface="Consolas"/>
                <a:cs typeface="Consolas"/>
                <a:sym typeface="Consolas"/>
              </a:rPr>
              <a:t>20.5 px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8C96A2"/>
                </a:solidFill>
                <a:latin typeface="Consolas"/>
                <a:ea typeface="Consolas"/>
                <a:cs typeface="Consolas"/>
                <a:sym typeface="Consolas"/>
              </a:rPr>
              <a:t>BLOCK POSE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8C96A2"/>
                </a:solidFill>
                <a:latin typeface="Consolas"/>
                <a:ea typeface="Consolas"/>
                <a:cs typeface="Consolas"/>
                <a:sym typeface="Consolas"/>
              </a:rPr>
              <a:t>IMAGINED</a:t>
            </a:r>
            <a:endParaRPr sz="1100"/>
          </a:p>
        </p:txBody>
      </p:sp>
      <p:sp>
        <p:nvSpPr>
          <p:cNvPr id="237" name="Google Shape;237;p34"/>
          <p:cNvSpPr txBox="1"/>
          <p:nvPr/>
        </p:nvSpPr>
        <p:spPr>
          <a:xfrm>
            <a:off x="7737881" y="4786884"/>
            <a:ext cx="82296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C96A2"/>
                </a:solidFill>
                <a:latin typeface="Consolas"/>
                <a:ea typeface="Consolas"/>
                <a:cs typeface="Consolas"/>
                <a:sym typeface="Consolas"/>
              </a:rPr>
              <a:t>1 / 3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5"/>
          <p:cNvSpPr txBox="1"/>
          <p:nvPr/>
        </p:nvSpPr>
        <p:spPr>
          <a:xfrm>
            <a:off x="582930" y="377190"/>
            <a:ext cx="7977911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5B8C"/>
                </a:solidFill>
                <a:latin typeface="Consolas"/>
                <a:ea typeface="Consolas"/>
                <a:cs typeface="Consolas"/>
                <a:sym typeface="Consolas"/>
              </a:rPr>
              <a:t>WHY REINFORCEMENT LEARNING ISN'T ENOUGH</a:t>
            </a:r>
            <a:endParaRPr sz="1100"/>
          </a:p>
        </p:txBody>
      </p:sp>
      <p:sp>
        <p:nvSpPr>
          <p:cNvPr id="244" name="Google Shape;244;p35"/>
          <p:cNvSpPr txBox="1"/>
          <p:nvPr/>
        </p:nvSpPr>
        <p:spPr>
          <a:xfrm>
            <a:off x="582930" y="651510"/>
            <a:ext cx="7977911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14181E"/>
                </a:solidFill>
                <a:latin typeface="Georgia"/>
                <a:ea typeface="Georgia"/>
                <a:cs typeface="Georgia"/>
                <a:sym typeface="Georgia"/>
              </a:rPr>
              <a:t>RL Learns a Policy for a Reward.</a:t>
            </a:r>
            <a:br>
              <a:rPr b="1" i="0" lang="en" sz="2700" u="none" cap="none" strike="noStrike">
                <a:solidFill>
                  <a:srgbClr val="14181E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1" i="0" lang="en" sz="2700" u="none" cap="none" strike="noStrike">
                <a:solidFill>
                  <a:srgbClr val="14181E"/>
                </a:solidFill>
                <a:latin typeface="Georgia"/>
                <a:ea typeface="Georgia"/>
                <a:cs typeface="Georgia"/>
                <a:sym typeface="Georgia"/>
              </a:rPr>
              <a:t>We Need a Plan for an Image.</a:t>
            </a:r>
            <a:endParaRPr sz="1100"/>
          </a:p>
        </p:txBody>
      </p:sp>
      <p:sp>
        <p:nvSpPr>
          <p:cNvPr id="245" name="Google Shape;245;p35"/>
          <p:cNvSpPr/>
          <p:nvPr/>
        </p:nvSpPr>
        <p:spPr>
          <a:xfrm>
            <a:off x="582930" y="1762506"/>
            <a:ext cx="7977911" cy="19050"/>
          </a:xfrm>
          <a:prstGeom prst="rect">
            <a:avLst/>
          </a:prstGeom>
          <a:solidFill>
            <a:srgbClr val="14181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35"/>
          <p:cNvSpPr txBox="1"/>
          <p:nvPr/>
        </p:nvSpPr>
        <p:spPr>
          <a:xfrm>
            <a:off x="582930" y="2036826"/>
            <a:ext cx="371463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F5B8C"/>
                </a:solidFill>
                <a:latin typeface="Calibri"/>
                <a:ea typeface="Calibri"/>
                <a:cs typeface="Calibri"/>
                <a:sym typeface="Calibri"/>
              </a:rPr>
              <a:t>—  </a:t>
            </a:r>
            <a:r>
              <a:rPr b="1" i="0" lang="en" sz="12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No reward exists.</a:t>
            </a:r>
            <a:r>
              <a:rPr b="0" i="0" lang="en" sz="12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 The task is an image, handed over at test time.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F5B8C"/>
                </a:solidFill>
                <a:latin typeface="Calibri"/>
                <a:ea typeface="Calibri"/>
                <a:cs typeface="Calibri"/>
                <a:sym typeface="Calibri"/>
              </a:rPr>
              <a:t>—  </a:t>
            </a:r>
            <a:r>
              <a:rPr b="1" i="0" lang="en" sz="12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The data is fixed and offline.</a:t>
            </a:r>
            <a:r>
              <a:rPr b="0" i="0" lang="en" sz="12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 ~200 demos, one free T4.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F5B8C"/>
                </a:solidFill>
                <a:latin typeface="Calibri"/>
                <a:ea typeface="Calibri"/>
                <a:cs typeface="Calibri"/>
                <a:sym typeface="Calibri"/>
              </a:rPr>
              <a:t>—  </a:t>
            </a:r>
            <a:r>
              <a:rPr b="1" i="0" lang="en" sz="12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Contact is rare</a:t>
            </a:r>
            <a:r>
              <a:rPr b="0" i="0" lang="en" sz="12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 — so credit assignment is brutal.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F5B8C"/>
                </a:solidFill>
                <a:latin typeface="Calibri"/>
                <a:ea typeface="Calibri"/>
                <a:cs typeface="Calibri"/>
                <a:sym typeface="Calibri"/>
              </a:rPr>
              <a:t>—  </a:t>
            </a:r>
            <a:r>
              <a:rPr b="1" i="0" lang="en" sz="12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We tried a learned policy.</a:t>
            </a:r>
            <a:r>
              <a:rPr b="0" i="0" lang="en" sz="12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 It trained beautifully.</a:t>
            </a:r>
            <a:endParaRPr sz="1100"/>
          </a:p>
        </p:txBody>
      </p:sp>
      <p:sp>
        <p:nvSpPr>
          <p:cNvPr id="247" name="Google Shape;247;p35"/>
          <p:cNvSpPr/>
          <p:nvPr/>
        </p:nvSpPr>
        <p:spPr>
          <a:xfrm>
            <a:off x="4846205" y="2036826"/>
            <a:ext cx="3714635" cy="10629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F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35"/>
          <p:cNvSpPr txBox="1"/>
          <p:nvPr/>
        </p:nvSpPr>
        <p:spPr>
          <a:xfrm>
            <a:off x="5051945" y="2042160"/>
            <a:ext cx="3303155" cy="945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300" u="none" cap="none" strike="noStrike">
                <a:solidFill>
                  <a:srgbClr val="A3452B"/>
                </a:solidFill>
                <a:latin typeface="Consolas"/>
                <a:ea typeface="Consolas"/>
                <a:cs typeface="Consolas"/>
                <a:sym typeface="Consolas"/>
              </a:rPr>
              <a:t>12 / 15</a:t>
            </a:r>
            <a:endParaRPr sz="1100"/>
          </a:p>
          <a:p>
            <a:pPr indent="0" lvl="0" marL="0" marR="0" rtl="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566270"/>
                </a:solidFill>
                <a:latin typeface="Calibri"/>
                <a:ea typeface="Calibri"/>
                <a:cs typeface="Calibri"/>
                <a:sym typeface="Calibri"/>
              </a:rPr>
              <a:t>seeds where our behavior-cloned policy never touched the block, 60 steps each, real physics</a:t>
            </a:r>
            <a:endParaRPr sz="1100"/>
          </a:p>
        </p:txBody>
      </p:sp>
      <p:sp>
        <p:nvSpPr>
          <p:cNvPr id="249" name="Google Shape;249;p35"/>
          <p:cNvSpPr txBox="1"/>
          <p:nvPr/>
        </p:nvSpPr>
        <p:spPr>
          <a:xfrm>
            <a:off x="4846205" y="3236976"/>
            <a:ext cx="371463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It learned the average action.</a:t>
            </a:r>
            <a:br>
              <a:rPr b="1" i="0" lang="en" sz="13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13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The average action is not a push.</a:t>
            </a:r>
            <a:endParaRPr sz="1100"/>
          </a:p>
        </p:txBody>
      </p:sp>
      <p:sp>
        <p:nvSpPr>
          <p:cNvPr id="250" name="Google Shape;250;p35"/>
          <p:cNvSpPr txBox="1"/>
          <p:nvPr/>
        </p:nvSpPr>
        <p:spPr>
          <a:xfrm>
            <a:off x="582930" y="4526280"/>
            <a:ext cx="7977911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8C96A2"/>
                </a:solidFill>
                <a:latin typeface="Calibri"/>
                <a:ea typeface="Calibri"/>
                <a:cs typeface="Calibri"/>
                <a:sym typeface="Calibri"/>
              </a:rPr>
              <a:t>We did not run an RL baseline. This is an argument about fit.</a:t>
            </a:r>
            <a:endParaRPr sz="1100"/>
          </a:p>
        </p:txBody>
      </p:sp>
      <p:sp>
        <p:nvSpPr>
          <p:cNvPr id="251" name="Google Shape;251;p35"/>
          <p:cNvSpPr txBox="1"/>
          <p:nvPr/>
        </p:nvSpPr>
        <p:spPr>
          <a:xfrm>
            <a:off x="7737881" y="4786884"/>
            <a:ext cx="82296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C96A2"/>
                </a:solidFill>
                <a:latin typeface="Consolas"/>
                <a:ea typeface="Consolas"/>
                <a:cs typeface="Consolas"/>
                <a:sym typeface="Consolas"/>
              </a:rPr>
              <a:t>2 / 3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6"/>
          <p:cNvSpPr txBox="1"/>
          <p:nvPr/>
        </p:nvSpPr>
        <p:spPr>
          <a:xfrm>
            <a:off x="582930" y="377190"/>
            <a:ext cx="7977911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F5B8C"/>
                </a:solidFill>
                <a:latin typeface="Consolas"/>
                <a:ea typeface="Consolas"/>
                <a:cs typeface="Consolas"/>
                <a:sym typeface="Consolas"/>
              </a:rPr>
              <a:t>THE PLANNER</a:t>
            </a:r>
            <a:endParaRPr sz="1100"/>
          </a:p>
        </p:txBody>
      </p:sp>
      <p:sp>
        <p:nvSpPr>
          <p:cNvPr id="258" name="Google Shape;258;p36"/>
          <p:cNvSpPr txBox="1"/>
          <p:nvPr/>
        </p:nvSpPr>
        <p:spPr>
          <a:xfrm>
            <a:off x="582930" y="651510"/>
            <a:ext cx="7977911" cy="720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000" u="none" cap="none" strike="noStrike">
                <a:solidFill>
                  <a:srgbClr val="14181E"/>
                </a:solidFill>
                <a:latin typeface="Georgia"/>
                <a:ea typeface="Georgia"/>
                <a:cs typeface="Georgia"/>
                <a:sym typeface="Georgia"/>
              </a:rPr>
              <a:t>Greedy Twice Over</a:t>
            </a:r>
            <a:endParaRPr sz="1100"/>
          </a:p>
        </p:txBody>
      </p:sp>
      <p:sp>
        <p:nvSpPr>
          <p:cNvPr id="259" name="Google Shape;259;p36"/>
          <p:cNvSpPr/>
          <p:nvPr/>
        </p:nvSpPr>
        <p:spPr>
          <a:xfrm>
            <a:off x="582930" y="1453896"/>
            <a:ext cx="7977911" cy="19050"/>
          </a:xfrm>
          <a:prstGeom prst="rect">
            <a:avLst/>
          </a:prstGeom>
          <a:solidFill>
            <a:srgbClr val="14181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36"/>
          <p:cNvSpPr txBox="1"/>
          <p:nvPr/>
        </p:nvSpPr>
        <p:spPr>
          <a:xfrm>
            <a:off x="582930" y="1728216"/>
            <a:ext cx="371463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8C96A2"/>
                </a:solidFill>
                <a:latin typeface="Consolas"/>
                <a:ea typeface="Consolas"/>
                <a:cs typeface="Consolas"/>
                <a:sym typeface="Consolas"/>
              </a:rPr>
              <a:t>CEM, IN ONE LINE</a:t>
            </a:r>
            <a:endParaRPr sz="1100"/>
          </a:p>
        </p:txBody>
      </p:sp>
      <p:sp>
        <p:nvSpPr>
          <p:cNvPr id="261" name="Google Shape;261;p36"/>
          <p:cNvSpPr txBox="1"/>
          <p:nvPr/>
        </p:nvSpPr>
        <p:spPr>
          <a:xfrm>
            <a:off x="582930" y="1975104"/>
            <a:ext cx="3714635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Sample → imagine → score →</a:t>
            </a:r>
            <a:br>
              <a:rPr b="1" i="0" lang="en" sz="14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14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keep the best 10% → repeat.</a:t>
            </a:r>
            <a:endParaRPr sz="1100"/>
          </a:p>
        </p:txBody>
      </p:sp>
      <p:sp>
        <p:nvSpPr>
          <p:cNvPr id="262" name="Google Shape;262;p36"/>
          <p:cNvSpPr txBox="1"/>
          <p:nvPr/>
        </p:nvSpPr>
        <p:spPr>
          <a:xfrm>
            <a:off x="582930" y="2660904"/>
            <a:ext cx="371463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566270"/>
                </a:solidFill>
                <a:latin typeface="Calibri"/>
                <a:ea typeface="Calibri"/>
                <a:cs typeface="Calibri"/>
                <a:sym typeface="Calibri"/>
              </a:rPr>
              <a:t>Hill-climbing over a distribution. No backtracking.</a:t>
            </a:r>
            <a:endParaRPr sz="1100"/>
          </a:p>
        </p:txBody>
      </p:sp>
      <p:sp>
        <p:nvSpPr>
          <p:cNvPr id="263" name="Google Shape;263;p36"/>
          <p:cNvSpPr txBox="1"/>
          <p:nvPr/>
        </p:nvSpPr>
        <p:spPr>
          <a:xfrm>
            <a:off x="582930" y="3106674"/>
            <a:ext cx="371463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8C96A2"/>
                </a:solidFill>
                <a:latin typeface="Consolas"/>
                <a:ea typeface="Consolas"/>
                <a:cs typeface="Consolas"/>
                <a:sym typeface="Consolas"/>
              </a:rPr>
              <a:t>TWO KINDS OF GREED</a:t>
            </a:r>
            <a:endParaRPr sz="1100"/>
          </a:p>
        </p:txBody>
      </p:sp>
      <p:sp>
        <p:nvSpPr>
          <p:cNvPr id="264" name="Google Shape;264;p36"/>
          <p:cNvSpPr txBox="1"/>
          <p:nvPr/>
        </p:nvSpPr>
        <p:spPr>
          <a:xfrm>
            <a:off x="582930" y="3353562"/>
            <a:ext cx="3714635" cy="553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F5B8C"/>
                </a:solidFill>
                <a:latin typeface="Calibri"/>
                <a:ea typeface="Calibri"/>
                <a:cs typeface="Calibri"/>
                <a:sym typeface="Calibri"/>
              </a:rPr>
              <a:t>—  </a:t>
            </a:r>
            <a:r>
              <a:rPr b="1" i="0" lang="en" sz="12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In search</a:t>
            </a:r>
            <a:r>
              <a:rPr b="0" i="0" lang="en" sz="12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: CEM only ever refits to its elites.</a:t>
            </a:r>
            <a:endParaRPr sz="1100"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F5B8C"/>
                </a:solidFill>
                <a:latin typeface="Calibri"/>
                <a:ea typeface="Calibri"/>
                <a:cs typeface="Calibri"/>
                <a:sym typeface="Calibri"/>
              </a:rPr>
              <a:t>—  </a:t>
            </a:r>
            <a:r>
              <a:rPr b="1" i="0" lang="en" sz="12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In time:</a:t>
            </a:r>
            <a:r>
              <a:rPr b="0" i="0" lang="en" sz="12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 horizon 8–10, on a 40-step task.</a:t>
            </a:r>
            <a:endParaRPr sz="1100"/>
          </a:p>
        </p:txBody>
      </p:sp>
      <p:sp>
        <p:nvSpPr>
          <p:cNvPr id="265" name="Google Shape;265;p36"/>
          <p:cNvSpPr/>
          <p:nvPr/>
        </p:nvSpPr>
        <p:spPr>
          <a:xfrm>
            <a:off x="4846205" y="1728216"/>
            <a:ext cx="3714635" cy="10629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F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36"/>
          <p:cNvSpPr txBox="1"/>
          <p:nvPr/>
        </p:nvSpPr>
        <p:spPr>
          <a:xfrm>
            <a:off x="4984212" y="1778931"/>
            <a:ext cx="3303155" cy="945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300" u="none" cap="none" strike="noStrike">
                <a:solidFill>
                  <a:srgbClr val="14181E"/>
                </a:solidFill>
                <a:latin typeface="Consolas"/>
                <a:ea typeface="Consolas"/>
                <a:cs typeface="Consolas"/>
                <a:sym typeface="Consolas"/>
              </a:rPr>
              <a:t>360,000</a:t>
            </a:r>
            <a:endParaRPr sz="1100"/>
          </a:p>
          <a:p>
            <a:pPr indent="0" lvl="0" marL="0" marR="0" rtl="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566270"/>
                </a:solidFill>
                <a:latin typeface="Calibri"/>
                <a:ea typeface="Calibri"/>
                <a:cs typeface="Calibri"/>
                <a:sym typeface="Calibri"/>
              </a:rPr>
              <a:t>imagined GRU steps to produce one executed action (d=40). 59 s per task, the hierarchy needs 6.9 s.</a:t>
            </a:r>
            <a:endParaRPr sz="1100"/>
          </a:p>
        </p:txBody>
      </p:sp>
      <p:sp>
        <p:nvSpPr>
          <p:cNvPr id="267" name="Google Shape;267;p36"/>
          <p:cNvSpPr/>
          <p:nvPr/>
        </p:nvSpPr>
        <p:spPr>
          <a:xfrm>
            <a:off x="4846205" y="2928366"/>
            <a:ext cx="3714635" cy="106299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DF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36"/>
          <p:cNvSpPr txBox="1"/>
          <p:nvPr/>
        </p:nvSpPr>
        <p:spPr>
          <a:xfrm>
            <a:off x="4984211" y="2985939"/>
            <a:ext cx="3303155" cy="945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300" u="none" cap="none" strike="noStrike">
                <a:solidFill>
                  <a:srgbClr val="A3452B"/>
                </a:solidFill>
                <a:latin typeface="Consolas"/>
                <a:ea typeface="Consolas"/>
                <a:cs typeface="Consolas"/>
                <a:sym typeface="Consolas"/>
              </a:rPr>
              <a:t>0.00 px</a:t>
            </a:r>
            <a:endParaRPr b="1" i="0" sz="3300" u="none" cap="none" strike="noStrike">
              <a:solidFill>
                <a:srgbClr val="A3452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566270"/>
                </a:solidFill>
                <a:latin typeface="Calibri"/>
                <a:ea typeface="Calibri"/>
                <a:cs typeface="Calibri"/>
                <a:sym typeface="Calibri"/>
              </a:rPr>
              <a:t>scored by a no-model control that just holds the goal position, beating both planners</a:t>
            </a:r>
            <a:endParaRPr sz="1100"/>
          </a:p>
        </p:txBody>
      </p:sp>
      <p:sp>
        <p:nvSpPr>
          <p:cNvPr id="269" name="Google Shape;269;p36"/>
          <p:cNvSpPr txBox="1"/>
          <p:nvPr/>
        </p:nvSpPr>
        <p:spPr>
          <a:xfrm>
            <a:off x="4846205" y="4128516"/>
            <a:ext cx="371463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Our goals never moved the block. On that task, greedy </a:t>
            </a:r>
            <a:r>
              <a:rPr b="1" i="1" lang="en" sz="11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r>
              <a:rPr b="1" i="0" lang="en" sz="1100" u="none" cap="none" strike="noStrike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 optimal.</a:t>
            </a:r>
            <a:endParaRPr sz="1100"/>
          </a:p>
        </p:txBody>
      </p:sp>
      <p:sp>
        <p:nvSpPr>
          <p:cNvPr id="270" name="Google Shape;270;p36"/>
          <p:cNvSpPr txBox="1"/>
          <p:nvPr/>
        </p:nvSpPr>
        <p:spPr>
          <a:xfrm>
            <a:off x="582930" y="4773168"/>
            <a:ext cx="7017791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8C96A2"/>
                </a:solidFill>
                <a:latin typeface="Calibri"/>
                <a:ea typeface="Calibri"/>
                <a:cs typeface="Calibri"/>
                <a:sym typeface="Calibri"/>
              </a:rPr>
              <a:t>Push-T is non-greedy: to rotate the T you must back away first — and greedy won't.</a:t>
            </a:r>
            <a:endParaRPr sz="1100"/>
          </a:p>
        </p:txBody>
      </p:sp>
      <p:sp>
        <p:nvSpPr>
          <p:cNvPr id="271" name="Google Shape;271;p36"/>
          <p:cNvSpPr txBox="1"/>
          <p:nvPr/>
        </p:nvSpPr>
        <p:spPr>
          <a:xfrm>
            <a:off x="7737881" y="4786884"/>
            <a:ext cx="82296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8C96A2"/>
                </a:solidFill>
                <a:latin typeface="Consolas"/>
                <a:ea typeface="Consolas"/>
                <a:cs typeface="Consolas"/>
                <a:sym typeface="Consolas"/>
              </a:rPr>
              <a:t>3 / 3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7" name="Google Shape;277;p37"/>
          <p:cNvCxnSpPr/>
          <p:nvPr/>
        </p:nvCxnSpPr>
        <p:spPr>
          <a:xfrm>
            <a:off x="585216" y="1490472"/>
            <a:ext cx="7973700" cy="0"/>
          </a:xfrm>
          <a:prstGeom prst="straightConnector1">
            <a:avLst/>
          </a:prstGeom>
          <a:noFill/>
          <a:ln cap="flat" cmpd="sng" w="12700">
            <a:solidFill>
              <a:srgbClr val="17181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8" name="Google Shape;278;p37"/>
          <p:cNvSpPr txBox="1"/>
          <p:nvPr/>
        </p:nvSpPr>
        <p:spPr>
          <a:xfrm>
            <a:off x="7589520" y="4828032"/>
            <a:ext cx="969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 /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37"/>
          <p:cNvSpPr txBox="1"/>
          <p:nvPr/>
        </p:nvSpPr>
        <p:spPr>
          <a:xfrm>
            <a:off x="585216" y="365760"/>
            <a:ext cx="7955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5568"/>
              </a:buClr>
              <a:buSzPts val="1100"/>
              <a:buFont typeface="Courier New"/>
              <a:buNone/>
            </a:pPr>
            <a:r>
              <a:rPr b="1" i="0" lang="en" sz="1100" u="none" cap="none" strike="noStrike">
                <a:solidFill>
                  <a:srgbClr val="3B5568"/>
                </a:solidFill>
                <a:latin typeface="Courier New"/>
                <a:ea typeface="Courier New"/>
                <a:cs typeface="Courier New"/>
                <a:sym typeface="Courier New"/>
              </a:rPr>
              <a:t>MODEL PREDICTIVE CONTROL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37"/>
          <p:cNvSpPr txBox="1"/>
          <p:nvPr/>
        </p:nvSpPr>
        <p:spPr>
          <a:xfrm>
            <a:off x="585216" y="603504"/>
            <a:ext cx="79554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7181D"/>
              </a:buClr>
              <a:buSzPts val="3000"/>
              <a:buFont typeface="Bookman Old Style"/>
              <a:buNone/>
            </a:pPr>
            <a:r>
              <a:rPr b="1" i="0" lang="en" sz="3000" u="none" cap="none" strike="noStrike">
                <a:solidFill>
                  <a:srgbClr val="17181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Trust The Plan For Eight Steps.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7181D"/>
              </a:buClr>
              <a:buSzPts val="3000"/>
              <a:buFont typeface="Bookman Old Style"/>
              <a:buNone/>
            </a:pPr>
            <a:r>
              <a:rPr b="1" i="0" lang="en" sz="3000" u="none" cap="none" strike="noStrike">
                <a:solidFill>
                  <a:srgbClr val="17181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Not Forty.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37"/>
          <p:cNvSpPr txBox="1"/>
          <p:nvPr/>
        </p:nvSpPr>
        <p:spPr>
          <a:xfrm>
            <a:off x="585216" y="1874520"/>
            <a:ext cx="4160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7181D"/>
              </a:buClr>
              <a:buSzPts val="1250"/>
              <a:buFont typeface="Calibri"/>
              <a:buNone/>
            </a:pPr>
            <a:r>
              <a:rPr b="0" i="0" lang="en" sz="1250" u="none" cap="none" strike="noStrike">
                <a:solidFill>
                  <a:srgbClr val="17181D"/>
                </a:solidFill>
                <a:latin typeface="Calibri"/>
                <a:ea typeface="Calibri"/>
                <a:cs typeface="Calibri"/>
                <a:sym typeface="Calibri"/>
              </a:rPr>
              <a:t>—  </a:t>
            </a:r>
            <a:r>
              <a:rPr b="1" i="0" lang="en" sz="1250" u="none" cap="none" strike="noStrike">
                <a:solidFill>
                  <a:srgbClr val="17181D"/>
                </a:solidFill>
                <a:latin typeface="Calibri"/>
                <a:ea typeface="Calibri"/>
                <a:cs typeface="Calibri"/>
                <a:sym typeface="Calibri"/>
              </a:rPr>
              <a:t>The predictor rolls forward in latent space</a:t>
            </a:r>
            <a:r>
              <a:rPr b="0" i="0" lang="en" sz="1250" u="none" cap="none" strike="noStrike">
                <a:solidFill>
                  <a:srgbClr val="17181D"/>
                </a:solidFill>
                <a:latin typeface="Calibri"/>
                <a:ea typeface="Calibri"/>
                <a:cs typeface="Calibri"/>
                <a:sym typeface="Calibri"/>
              </a:rPr>
              <a:t> — but every step compounds the last step's error.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37"/>
          <p:cNvSpPr txBox="1"/>
          <p:nvPr/>
        </p:nvSpPr>
        <p:spPr>
          <a:xfrm>
            <a:off x="585216" y="2532888"/>
            <a:ext cx="4160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7181D"/>
              </a:buClr>
              <a:buSzPts val="1250"/>
              <a:buFont typeface="Calibri"/>
              <a:buNone/>
            </a:pPr>
            <a:r>
              <a:rPr b="0" i="0" lang="en" sz="1250" u="none" cap="none" strike="noStrike">
                <a:solidFill>
                  <a:srgbClr val="17181D"/>
                </a:solidFill>
                <a:latin typeface="Calibri"/>
                <a:ea typeface="Calibri"/>
                <a:cs typeface="Calibri"/>
                <a:sym typeface="Calibri"/>
              </a:rPr>
              <a:t>—  </a:t>
            </a:r>
            <a:r>
              <a:rPr b="1" i="0" lang="en" sz="1250" u="none" cap="none" strike="noStrike">
                <a:solidFill>
                  <a:srgbClr val="17181D"/>
                </a:solidFill>
                <a:latin typeface="Calibri"/>
                <a:ea typeface="Calibri"/>
                <a:cs typeface="Calibri"/>
                <a:sym typeface="Calibri"/>
              </a:rPr>
              <a:t>The fix: </a:t>
            </a:r>
            <a:r>
              <a:rPr b="0" i="0" lang="en" sz="1250" u="none" cap="none" strike="noStrike">
                <a:solidFill>
                  <a:srgbClr val="17181D"/>
                </a:solidFill>
                <a:latin typeface="Calibri"/>
                <a:ea typeface="Calibri"/>
                <a:cs typeface="Calibri"/>
                <a:sym typeface="Calibri"/>
              </a:rPr>
              <a:t>search a plan over the full horizon, execute only the first action, then throw the rest away.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37"/>
          <p:cNvSpPr txBox="1"/>
          <p:nvPr/>
        </p:nvSpPr>
        <p:spPr>
          <a:xfrm>
            <a:off x="585216" y="3191256"/>
            <a:ext cx="4160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7181D"/>
              </a:buClr>
              <a:buSzPts val="1250"/>
              <a:buFont typeface="Calibri"/>
              <a:buNone/>
            </a:pPr>
            <a:r>
              <a:rPr b="0" i="0" lang="en" sz="1250" u="none" cap="none" strike="noStrike">
                <a:solidFill>
                  <a:srgbClr val="17181D"/>
                </a:solidFill>
                <a:latin typeface="Calibri"/>
                <a:ea typeface="Calibri"/>
                <a:cs typeface="Calibri"/>
                <a:sym typeface="Calibri"/>
              </a:rPr>
              <a:t>—  </a:t>
            </a:r>
            <a:r>
              <a:rPr b="1" i="0" lang="en" sz="1250" u="none" cap="none" strike="noStrike">
                <a:solidFill>
                  <a:srgbClr val="17181D"/>
                </a:solidFill>
                <a:latin typeface="Calibri"/>
                <a:ea typeface="Calibri"/>
                <a:cs typeface="Calibri"/>
                <a:sym typeface="Calibri"/>
              </a:rPr>
              <a:t>Re-encode the real frame, get the true z, replan. </a:t>
            </a:r>
            <a:r>
              <a:rPr b="0" i="0" lang="en" sz="1250" u="none" cap="none" strike="noStrike">
                <a:solidFill>
                  <a:srgbClr val="17181D"/>
                </a:solidFill>
                <a:latin typeface="Calibri"/>
                <a:ea typeface="Calibri"/>
                <a:cs typeface="Calibri"/>
                <a:sym typeface="Calibri"/>
              </a:rPr>
              <a:t>The horizon shrinks every step: 8 → 7 → 6 → ... → 1.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37"/>
          <p:cNvSpPr txBox="1"/>
          <p:nvPr/>
        </p:nvSpPr>
        <p:spPr>
          <a:xfrm>
            <a:off x="585216" y="3849624"/>
            <a:ext cx="4160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7181D"/>
              </a:buClr>
              <a:buSzPts val="1250"/>
              <a:buFont typeface="Calibri"/>
              <a:buNone/>
            </a:pPr>
            <a:r>
              <a:rPr b="0" i="0" lang="en" sz="1250" u="none" cap="none" strike="noStrike">
                <a:solidFill>
                  <a:srgbClr val="17181D"/>
                </a:solidFill>
                <a:latin typeface="Calibri"/>
                <a:ea typeface="Calibri"/>
                <a:cs typeface="Calibri"/>
                <a:sym typeface="Calibri"/>
              </a:rPr>
              <a:t>—  </a:t>
            </a:r>
            <a:r>
              <a:rPr b="1" i="0" lang="en" sz="1250" u="none" cap="none" strike="noStrike">
                <a:solidFill>
                  <a:srgbClr val="17181D"/>
                </a:solidFill>
                <a:latin typeface="Calibri"/>
                <a:ea typeface="Calibri"/>
                <a:cs typeface="Calibri"/>
                <a:sym typeface="Calibri"/>
              </a:rPr>
              <a:t>This is what makes it “closed-loop.” </a:t>
            </a:r>
            <a:r>
              <a:rPr b="0" i="0" lang="en" sz="1250" u="none" cap="none" strike="noStrike">
                <a:solidFill>
                  <a:srgbClr val="17181D"/>
                </a:solidFill>
                <a:latin typeface="Calibri"/>
                <a:ea typeface="Calibri"/>
                <a:cs typeface="Calibri"/>
                <a:sym typeface="Calibri"/>
              </a:rPr>
              <a:t>Planning once and executing blind is the ablation, not the method.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37"/>
          <p:cNvSpPr/>
          <p:nvPr/>
        </p:nvSpPr>
        <p:spPr>
          <a:xfrm>
            <a:off x="4846320" y="1874520"/>
            <a:ext cx="3712500" cy="1188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EDF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7"/>
          <p:cNvSpPr txBox="1"/>
          <p:nvPr/>
        </p:nvSpPr>
        <p:spPr>
          <a:xfrm>
            <a:off x="5065776" y="1965960"/>
            <a:ext cx="327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81D"/>
              </a:buClr>
              <a:buSzPts val="2600"/>
              <a:buFont typeface="Courier New"/>
              <a:buNone/>
            </a:pPr>
            <a:r>
              <a:rPr b="1" i="0" lang="en" sz="2600" u="none" cap="none" strike="noStrike">
                <a:solidFill>
                  <a:srgbClr val="17181D"/>
                </a:solidFill>
                <a:latin typeface="Courier New"/>
                <a:ea typeface="Courier New"/>
                <a:cs typeface="Courier New"/>
                <a:sym typeface="Courier New"/>
              </a:rPr>
              <a:t>205px → 5px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37"/>
          <p:cNvSpPr txBox="1"/>
          <p:nvPr/>
        </p:nvSpPr>
        <p:spPr>
          <a:xfrm>
            <a:off x="5065776" y="2441448"/>
            <a:ext cx="3273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agent error at goal, same seed — open-loop vs. closed-loop replanning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37"/>
          <p:cNvSpPr txBox="1"/>
          <p:nvPr/>
        </p:nvSpPr>
        <p:spPr>
          <a:xfrm>
            <a:off x="4846320" y="3291840"/>
            <a:ext cx="3712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7181D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17181D"/>
                </a:solidFill>
                <a:latin typeface="Calibri"/>
                <a:ea typeface="Calibri"/>
                <a:cs typeface="Calibri"/>
                <a:sym typeface="Calibri"/>
              </a:rPr>
              <a:t>Closed-loop converges on 4 of 5 tasks.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7181D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17181D"/>
                </a:solidFill>
                <a:latin typeface="Calibri"/>
                <a:ea typeface="Calibri"/>
                <a:cs typeface="Calibri"/>
                <a:sym typeface="Calibri"/>
              </a:rPr>
              <a:t>Open-loop is worse on every one it solved.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37"/>
          <p:cNvSpPr txBox="1"/>
          <p:nvPr/>
        </p:nvSpPr>
        <p:spPr>
          <a:xfrm>
            <a:off x="585216" y="4791456"/>
            <a:ext cx="6766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1" lang="en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Don't plan the whole trip. Plan one step, take it, look again.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5" name="Google Shape;295;p38"/>
          <p:cNvCxnSpPr/>
          <p:nvPr/>
        </p:nvCxnSpPr>
        <p:spPr>
          <a:xfrm>
            <a:off x="585216" y="1490472"/>
            <a:ext cx="7973700" cy="0"/>
          </a:xfrm>
          <a:prstGeom prst="straightConnector1">
            <a:avLst/>
          </a:prstGeom>
          <a:noFill/>
          <a:ln cap="flat" cmpd="sng" w="12700">
            <a:solidFill>
              <a:srgbClr val="17181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6" name="Google Shape;296;p38"/>
          <p:cNvSpPr txBox="1"/>
          <p:nvPr/>
        </p:nvSpPr>
        <p:spPr>
          <a:xfrm>
            <a:off x="7589520" y="4828032"/>
            <a:ext cx="969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 /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8"/>
          <p:cNvSpPr txBox="1"/>
          <p:nvPr/>
        </p:nvSpPr>
        <p:spPr>
          <a:xfrm>
            <a:off x="585216" y="365760"/>
            <a:ext cx="7955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5568"/>
              </a:buClr>
              <a:buSzPts val="1100"/>
              <a:buFont typeface="Courier New"/>
              <a:buNone/>
            </a:pPr>
            <a:r>
              <a:rPr b="1" i="0" lang="en" sz="1100" u="none" cap="none" strike="noStrike">
                <a:solidFill>
                  <a:srgbClr val="3B5568"/>
                </a:solidFill>
                <a:latin typeface="Courier New"/>
                <a:ea typeface="Courier New"/>
                <a:cs typeface="Courier New"/>
                <a:sym typeface="Courier New"/>
              </a:rPr>
              <a:t>CROSS-ENTROPY METHOD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8"/>
          <p:cNvSpPr txBox="1"/>
          <p:nvPr/>
        </p:nvSpPr>
        <p:spPr>
          <a:xfrm>
            <a:off x="585216" y="603504"/>
            <a:ext cx="79554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7181D"/>
              </a:buClr>
              <a:buSzPts val="3000"/>
              <a:buFont typeface="Bookman Old Style"/>
              <a:buNone/>
            </a:pPr>
            <a:r>
              <a:rPr b="1" i="0" lang="en" sz="3000" u="none" cap="none" strike="noStrike">
                <a:solidFill>
                  <a:srgbClr val="17181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Don't Solve It.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7181D"/>
              </a:buClr>
              <a:buSzPts val="3000"/>
              <a:buFont typeface="Bookman Old Style"/>
              <a:buNone/>
            </a:pPr>
            <a:r>
              <a:rPr b="1" i="0" lang="en" sz="3000" u="none" cap="none" strike="noStrike">
                <a:solidFill>
                  <a:srgbClr val="17181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Sample Your Way There.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8"/>
          <p:cNvSpPr txBox="1"/>
          <p:nvPr/>
        </p:nvSpPr>
        <p:spPr>
          <a:xfrm>
            <a:off x="585216" y="1874520"/>
            <a:ext cx="4160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7181D"/>
              </a:buClr>
              <a:buSzPts val="1250"/>
              <a:buFont typeface="Calibri"/>
              <a:buNone/>
            </a:pPr>
            <a:r>
              <a:rPr b="0" i="0" lang="en" sz="1250" u="none" cap="none" strike="noStrike">
                <a:solidFill>
                  <a:srgbClr val="17181D"/>
                </a:solidFill>
                <a:latin typeface="Calibri"/>
                <a:ea typeface="Calibri"/>
                <a:cs typeface="Calibri"/>
                <a:sym typeface="Calibri"/>
              </a:rPr>
              <a:t>—  </a:t>
            </a:r>
            <a:r>
              <a:rPr b="1" i="0" lang="en" sz="1250" u="none" cap="none" strike="noStrike">
                <a:solidFill>
                  <a:srgbClr val="17181D"/>
                </a:solidFill>
                <a:latin typeface="Calibri"/>
                <a:ea typeface="Calibri"/>
                <a:cs typeface="Calibri"/>
                <a:sym typeface="Calibri"/>
              </a:rPr>
              <a:t>Start from a Gaussian over action sequences, </a:t>
            </a:r>
            <a:r>
              <a:rPr b="0" i="0" lang="en" sz="1250" u="none" cap="none" strike="noStrike">
                <a:solidFill>
                  <a:srgbClr val="17181D"/>
                </a:solidFill>
                <a:latin typeface="Calibri"/>
                <a:ea typeface="Calibri"/>
                <a:cs typeface="Calibri"/>
                <a:sym typeface="Calibri"/>
              </a:rPr>
              <a:t>centered on the current position.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38"/>
          <p:cNvSpPr txBox="1"/>
          <p:nvPr/>
        </p:nvSpPr>
        <p:spPr>
          <a:xfrm>
            <a:off x="585216" y="2532888"/>
            <a:ext cx="4160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7181D"/>
              </a:buClr>
              <a:buSzPts val="1250"/>
              <a:buFont typeface="Calibri"/>
              <a:buNone/>
            </a:pPr>
            <a:r>
              <a:rPr b="0" i="0" lang="en" sz="1250" u="none" cap="none" strike="noStrike">
                <a:solidFill>
                  <a:srgbClr val="17181D"/>
                </a:solidFill>
                <a:latin typeface="Calibri"/>
                <a:ea typeface="Calibri"/>
                <a:cs typeface="Calibri"/>
                <a:sym typeface="Calibri"/>
              </a:rPr>
              <a:t>—  </a:t>
            </a:r>
            <a:r>
              <a:rPr b="1" i="0" lang="en" sz="1250" u="none" cap="none" strike="noStrike">
                <a:solidFill>
                  <a:srgbClr val="17181D"/>
                </a:solidFill>
                <a:latin typeface="Calibri"/>
                <a:ea typeface="Calibri"/>
                <a:cs typeface="Calibri"/>
                <a:sym typeface="Calibri"/>
              </a:rPr>
              <a:t>Sample 256 candidates from it, </a:t>
            </a:r>
            <a:r>
              <a:rPr b="0" i="0" lang="en" sz="1250" u="none" cap="none" strike="noStrike">
                <a:solidFill>
                  <a:srgbClr val="17181D"/>
                </a:solidFill>
                <a:latin typeface="Calibri"/>
                <a:ea typeface="Calibri"/>
                <a:cs typeface="Calibri"/>
                <a:sym typeface="Calibri"/>
              </a:rPr>
              <a:t>each an 8-step sequence of raw pixel moves.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38"/>
          <p:cNvSpPr txBox="1"/>
          <p:nvPr/>
        </p:nvSpPr>
        <p:spPr>
          <a:xfrm>
            <a:off x="585216" y="3191256"/>
            <a:ext cx="4160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7181D"/>
              </a:buClr>
              <a:buSzPts val="1250"/>
              <a:buFont typeface="Calibri"/>
              <a:buNone/>
            </a:pPr>
            <a:r>
              <a:rPr b="0" i="0" lang="en" sz="1250" u="none" cap="none" strike="noStrike">
                <a:solidFill>
                  <a:srgbClr val="17181D"/>
                </a:solidFill>
                <a:latin typeface="Calibri"/>
                <a:ea typeface="Calibri"/>
                <a:cs typeface="Calibri"/>
                <a:sym typeface="Calibri"/>
              </a:rPr>
              <a:t>—  </a:t>
            </a:r>
            <a:r>
              <a:rPr b="1" i="0" lang="en" sz="1250" u="none" cap="none" strike="noStrike">
                <a:solidFill>
                  <a:srgbClr val="17181D"/>
                </a:solidFill>
                <a:latin typeface="Calibri"/>
                <a:ea typeface="Calibri"/>
                <a:cs typeface="Calibri"/>
                <a:sym typeface="Calibri"/>
              </a:rPr>
              <a:t>Imagine every candidate through the predictor, </a:t>
            </a:r>
            <a:r>
              <a:rPr b="0" i="0" lang="en" sz="1250" u="none" cap="none" strike="noStrike">
                <a:solidFill>
                  <a:srgbClr val="17181D"/>
                </a:solidFill>
                <a:latin typeface="Calibri"/>
                <a:ea typeface="Calibri"/>
                <a:cs typeface="Calibri"/>
                <a:sym typeface="Calibri"/>
              </a:rPr>
              <a:t>score it by distance to the goal latent.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8"/>
          <p:cNvSpPr txBox="1"/>
          <p:nvPr/>
        </p:nvSpPr>
        <p:spPr>
          <a:xfrm>
            <a:off x="585216" y="3849624"/>
            <a:ext cx="4160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7181D"/>
              </a:buClr>
              <a:buSzPts val="1250"/>
              <a:buFont typeface="Calibri"/>
              <a:buNone/>
            </a:pPr>
            <a:r>
              <a:rPr b="0" i="0" lang="en" sz="1250" u="none" cap="none" strike="noStrike">
                <a:solidFill>
                  <a:srgbClr val="17181D"/>
                </a:solidFill>
                <a:latin typeface="Calibri"/>
                <a:ea typeface="Calibri"/>
                <a:cs typeface="Calibri"/>
                <a:sym typeface="Calibri"/>
              </a:rPr>
              <a:t>—  </a:t>
            </a:r>
            <a:r>
              <a:rPr b="1" i="0" lang="en" sz="1250" u="none" cap="none" strike="noStrike">
                <a:solidFill>
                  <a:srgbClr val="17181D"/>
                </a:solidFill>
                <a:latin typeface="Calibri"/>
                <a:ea typeface="Calibri"/>
                <a:cs typeface="Calibri"/>
                <a:sym typeface="Calibri"/>
              </a:rPr>
              <a:t>Keep the best 10% — the elites — </a:t>
            </a:r>
            <a:r>
              <a:rPr b="0" i="0" lang="en" sz="1250" u="none" cap="none" strike="noStrike">
                <a:solidFill>
                  <a:srgbClr val="17181D"/>
                </a:solidFill>
                <a:latin typeface="Calibri"/>
                <a:ea typeface="Calibri"/>
                <a:cs typeface="Calibri"/>
                <a:sym typeface="Calibri"/>
              </a:rPr>
              <a:t>refit the Gaussian to just them, repeat 6 times.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38"/>
          <p:cNvSpPr/>
          <p:nvPr/>
        </p:nvSpPr>
        <p:spPr>
          <a:xfrm>
            <a:off x="4846320" y="1874520"/>
            <a:ext cx="3712500" cy="1234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EDF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38"/>
          <p:cNvSpPr txBox="1"/>
          <p:nvPr/>
        </p:nvSpPr>
        <p:spPr>
          <a:xfrm>
            <a:off x="5065776" y="1965960"/>
            <a:ext cx="327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81D"/>
              </a:buClr>
              <a:buSzPts val="2000"/>
              <a:buFont typeface="Courier New"/>
              <a:buNone/>
            </a:pPr>
            <a:r>
              <a:rPr b="1" i="0" lang="en" sz="2000" u="none" cap="none" strike="noStrike">
                <a:solidFill>
                  <a:srgbClr val="17181D"/>
                </a:solidFill>
                <a:latin typeface="Courier New"/>
                <a:ea typeface="Courier New"/>
                <a:cs typeface="Courier New"/>
                <a:sym typeface="Courier New"/>
              </a:rPr>
              <a:t>1.0·final + 0.2·path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38"/>
          <p:cNvSpPr txBox="1"/>
          <p:nvPr/>
        </p:nvSpPr>
        <p:spPr>
          <a:xfrm>
            <a:off x="5065776" y="2441448"/>
            <a:ext cx="3273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the cost: mostly where the imagined rollout lands, a little how it got there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38"/>
          <p:cNvSpPr/>
          <p:nvPr/>
        </p:nvSpPr>
        <p:spPr>
          <a:xfrm>
            <a:off x="4846320" y="3246120"/>
            <a:ext cx="3712500" cy="1005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EDF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38"/>
          <p:cNvSpPr txBox="1"/>
          <p:nvPr/>
        </p:nvSpPr>
        <p:spPr>
          <a:xfrm>
            <a:off x="5065776" y="3337560"/>
            <a:ext cx="327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81D"/>
              </a:buClr>
              <a:buSzPts val="2400"/>
              <a:buFont typeface="Courier New"/>
              <a:buNone/>
            </a:pPr>
            <a:r>
              <a:rPr b="1" i="0" lang="en" sz="2400" u="none" cap="none" strike="noStrike">
                <a:solidFill>
                  <a:srgbClr val="17181D"/>
                </a:solidFill>
                <a:latin typeface="Courier New"/>
                <a:ea typeface="Courier New"/>
                <a:cs typeface="Courier New"/>
                <a:sym typeface="Courier New"/>
              </a:rPr>
              <a:t>256 × 6 × 8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38"/>
          <p:cNvSpPr txBox="1"/>
          <p:nvPr/>
        </p:nvSpPr>
        <p:spPr>
          <a:xfrm>
            <a:off x="5065776" y="3813048"/>
            <a:ext cx="3273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candidates × elite refits × steps searched, per single replan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38"/>
          <p:cNvSpPr txBox="1"/>
          <p:nvPr/>
        </p:nvSpPr>
        <p:spPr>
          <a:xfrm>
            <a:off x="585216" y="4791456"/>
            <a:ext cx="6766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1" lang="en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No gradient, anywhere. It just keeps what worked and forgets what didn't.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5" name="Google Shape;315;p39"/>
          <p:cNvCxnSpPr/>
          <p:nvPr/>
        </p:nvCxnSpPr>
        <p:spPr>
          <a:xfrm>
            <a:off x="585216" y="1490472"/>
            <a:ext cx="7973700" cy="0"/>
          </a:xfrm>
          <a:prstGeom prst="straightConnector1">
            <a:avLst/>
          </a:prstGeom>
          <a:noFill/>
          <a:ln cap="flat" cmpd="sng" w="12700">
            <a:solidFill>
              <a:srgbClr val="17181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6" name="Google Shape;316;p39"/>
          <p:cNvSpPr txBox="1"/>
          <p:nvPr/>
        </p:nvSpPr>
        <p:spPr>
          <a:xfrm>
            <a:off x="7589520" y="4828032"/>
            <a:ext cx="969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4 /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39"/>
          <p:cNvSpPr txBox="1"/>
          <p:nvPr/>
        </p:nvSpPr>
        <p:spPr>
          <a:xfrm>
            <a:off x="585216" y="365760"/>
            <a:ext cx="7955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5568"/>
              </a:buClr>
              <a:buSzPts val="1100"/>
              <a:buFont typeface="Courier New"/>
              <a:buNone/>
            </a:pPr>
            <a:r>
              <a:rPr b="1" i="0" lang="en" sz="1100" u="none" cap="none" strike="noStrike">
                <a:solidFill>
                  <a:srgbClr val="3B5568"/>
                </a:solidFill>
                <a:latin typeface="Courier New"/>
                <a:ea typeface="Courier New"/>
                <a:cs typeface="Courier New"/>
                <a:sym typeface="Courier New"/>
              </a:rPr>
              <a:t>TEMPORAL HIERARCHY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39"/>
          <p:cNvSpPr txBox="1"/>
          <p:nvPr/>
        </p:nvSpPr>
        <p:spPr>
          <a:xfrm>
            <a:off x="585216" y="603504"/>
            <a:ext cx="79554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7181D"/>
              </a:buClr>
              <a:buSzPts val="3000"/>
              <a:buFont typeface="Bookman Old Style"/>
              <a:buNone/>
            </a:pPr>
            <a:r>
              <a:rPr b="1" i="0" lang="en" sz="3000" u="none" cap="none" strike="noStrike">
                <a:solidFill>
                  <a:srgbClr val="17181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CEM Twice,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7181D"/>
              </a:buClr>
              <a:buSzPts val="3000"/>
              <a:buFont typeface="Bookman Old Style"/>
              <a:buNone/>
            </a:pPr>
            <a:r>
              <a:rPr b="1" i="0" lang="en" sz="3000" u="none" cap="none" strike="noStrike">
                <a:solidFill>
                  <a:srgbClr val="17181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At Two Timescales.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9"/>
          <p:cNvSpPr txBox="1"/>
          <p:nvPr/>
        </p:nvSpPr>
        <p:spPr>
          <a:xfrm>
            <a:off x="585216" y="1874520"/>
            <a:ext cx="4160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7181D"/>
              </a:buClr>
              <a:buSzPts val="1250"/>
              <a:buFont typeface="Calibri"/>
              <a:buNone/>
            </a:pPr>
            <a:r>
              <a:rPr b="0" i="0" lang="en" sz="1250" u="none" cap="none" strike="noStrike">
                <a:solidFill>
                  <a:srgbClr val="17181D"/>
                </a:solidFill>
                <a:latin typeface="Calibri"/>
                <a:ea typeface="Calibri"/>
                <a:cs typeface="Calibri"/>
                <a:sym typeface="Calibri"/>
              </a:rPr>
              <a:t>—  </a:t>
            </a:r>
            <a:r>
              <a:rPr b="1" i="0" lang="en" sz="1250" u="none" cap="none" strike="noStrike">
                <a:solidFill>
                  <a:srgbClr val="17181D"/>
                </a:solidFill>
                <a:latin typeface="Calibri"/>
                <a:ea typeface="Calibri"/>
                <a:cs typeface="Calibri"/>
                <a:sym typeface="Calibri"/>
              </a:rPr>
              <a:t>High-level CEM searches macro-actions</a:t>
            </a:r>
            <a:r>
              <a:rPr b="0" i="0" lang="en" sz="1250" u="none" cap="none" strike="noStrike">
                <a:solidFill>
                  <a:srgbClr val="17181D"/>
                </a:solidFill>
                <a:latin typeface="Calibri"/>
                <a:ea typeface="Calibri"/>
                <a:cs typeface="Calibri"/>
                <a:sym typeface="Calibri"/>
              </a:rPr>
              <a:t> — 3 hops of 5–15 primitive steps each — to place a subgoal.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9"/>
          <p:cNvSpPr txBox="1"/>
          <p:nvPr/>
        </p:nvSpPr>
        <p:spPr>
          <a:xfrm>
            <a:off x="585216" y="2532888"/>
            <a:ext cx="4160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7181D"/>
              </a:buClr>
              <a:buSzPts val="1250"/>
              <a:buFont typeface="Calibri"/>
              <a:buNone/>
            </a:pPr>
            <a:r>
              <a:rPr b="0" i="0" lang="en" sz="1250" u="none" cap="none" strike="noStrike">
                <a:solidFill>
                  <a:srgbClr val="17181D"/>
                </a:solidFill>
                <a:latin typeface="Calibri"/>
                <a:ea typeface="Calibri"/>
                <a:cs typeface="Calibri"/>
                <a:sym typeface="Calibri"/>
              </a:rPr>
              <a:t>—  </a:t>
            </a:r>
            <a:r>
              <a:rPr b="1" i="0" lang="en" sz="1250" u="none" cap="none" strike="noStrike">
                <a:solidFill>
                  <a:srgbClr val="17181D"/>
                </a:solidFill>
                <a:latin typeface="Calibri"/>
                <a:ea typeface="Calibri"/>
                <a:cs typeface="Calibri"/>
                <a:sym typeface="Calibri"/>
              </a:rPr>
              <a:t>Low-level CEM is the exact planner from the last slide, </a:t>
            </a:r>
            <a:r>
              <a:rPr b="0" i="0" lang="en" sz="1250" u="none" cap="none" strike="noStrike">
                <a:solidFill>
                  <a:srgbClr val="17181D"/>
                </a:solidFill>
                <a:latin typeface="Calibri"/>
                <a:ea typeface="Calibri"/>
                <a:cs typeface="Calibri"/>
                <a:sym typeface="Calibri"/>
              </a:rPr>
              <a:t>unchanged — now aimed at that subgoal, not the far goal.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39"/>
          <p:cNvSpPr txBox="1"/>
          <p:nvPr/>
        </p:nvSpPr>
        <p:spPr>
          <a:xfrm>
            <a:off x="585216" y="3191256"/>
            <a:ext cx="4160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7181D"/>
              </a:buClr>
              <a:buSzPts val="1250"/>
              <a:buFont typeface="Calibri"/>
              <a:buNone/>
            </a:pPr>
            <a:r>
              <a:rPr b="0" i="0" lang="en" sz="1250" u="none" cap="none" strike="noStrike">
                <a:solidFill>
                  <a:srgbClr val="17181D"/>
                </a:solidFill>
                <a:latin typeface="Calibri"/>
                <a:ea typeface="Calibri"/>
                <a:cs typeface="Calibri"/>
                <a:sym typeface="Calibri"/>
              </a:rPr>
              <a:t>—  </a:t>
            </a:r>
            <a:r>
              <a:rPr b="1" i="0" lang="en" sz="1250" u="none" cap="none" strike="noStrike">
                <a:solidFill>
                  <a:srgbClr val="17181D"/>
                </a:solidFill>
                <a:latin typeface="Calibri"/>
                <a:ea typeface="Calibri"/>
                <a:cs typeface="Calibri"/>
                <a:sym typeface="Calibri"/>
              </a:rPr>
              <a:t>Same loop, two clocks: </a:t>
            </a:r>
            <a:r>
              <a:rPr b="0" i="0" lang="en" sz="1250" u="none" cap="none" strike="noStrike">
                <a:solidFill>
                  <a:srgbClr val="17181D"/>
                </a:solidFill>
                <a:latin typeface="Calibri"/>
                <a:ea typeface="Calibri"/>
                <a:cs typeface="Calibri"/>
                <a:sym typeface="Calibri"/>
              </a:rPr>
              <a:t>“sample → imagine → keep the best 10%” runs once over macro-actions, once over primitives.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9"/>
          <p:cNvSpPr/>
          <p:nvPr/>
        </p:nvSpPr>
        <p:spPr>
          <a:xfrm>
            <a:off x="4846320" y="1874520"/>
            <a:ext cx="3712500" cy="1188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EDF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39"/>
          <p:cNvSpPr txBox="1"/>
          <p:nvPr/>
        </p:nvSpPr>
        <p:spPr>
          <a:xfrm>
            <a:off x="5065776" y="1965960"/>
            <a:ext cx="327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181D"/>
              </a:buClr>
              <a:buSzPts val="1900"/>
              <a:buFont typeface="Courier New"/>
              <a:buNone/>
            </a:pPr>
            <a:r>
              <a:rPr b="1" i="0" lang="en" sz="1900" u="none" cap="none" strike="noStrike">
                <a:solidFill>
                  <a:srgbClr val="17181D"/>
                </a:solidFill>
                <a:latin typeface="Courier New"/>
                <a:ea typeface="Courier New"/>
                <a:cs typeface="Courier New"/>
                <a:sym typeface="Courier New"/>
              </a:rPr>
              <a:t>18,885ms → 3,173ms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39"/>
          <p:cNvSpPr txBox="1"/>
          <p:nvPr/>
        </p:nvSpPr>
        <p:spPr>
          <a:xfrm>
            <a:off x="5065776" y="2441448"/>
            <a:ext cx="3273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planning time per task, d=20, same 60% success rate — flat CEM vs. hierarchical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39"/>
          <p:cNvSpPr txBox="1"/>
          <p:nvPr/>
        </p:nvSpPr>
        <p:spPr>
          <a:xfrm>
            <a:off x="4846320" y="3291840"/>
            <a:ext cx="3712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7181D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17181D"/>
                </a:solidFill>
                <a:latin typeface="Calibri"/>
                <a:ea typeface="Calibri"/>
                <a:cs typeface="Calibri"/>
                <a:sym typeface="Calibri"/>
              </a:rPr>
              <a:t>Position error grows: block 15.98px → 28.80px,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7181D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17181D"/>
                </a:solidFill>
                <a:latin typeface="Calibri"/>
                <a:ea typeface="Calibri"/>
                <a:cs typeface="Calibri"/>
                <a:sym typeface="Calibri"/>
              </a:rPr>
              <a:t>agent 8.75px → 57.85px.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9"/>
          <p:cNvSpPr txBox="1"/>
          <p:nvPr/>
        </p:nvSpPr>
        <p:spPr>
          <a:xfrm>
            <a:off x="585216" y="4791456"/>
            <a:ext cx="6766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1" lang="en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Two clocks, one search. Shayan is up next with the architecture underneath it.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0"/>
          <p:cNvSpPr txBox="1"/>
          <p:nvPr/>
        </p:nvSpPr>
        <p:spPr>
          <a:xfrm>
            <a:off x="582925" y="377199"/>
            <a:ext cx="7345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300">
                <a:solidFill>
                  <a:srgbClr val="1F5B8C"/>
                </a:solidFill>
                <a:latin typeface="Consolas"/>
                <a:ea typeface="Consolas"/>
                <a:cs typeface="Consolas"/>
                <a:sym typeface="Consolas"/>
              </a:rPr>
              <a:t> A Subgoal Is an Imagined Futur</a:t>
            </a:r>
            <a:r>
              <a:rPr b="1" lang="en" sz="1300">
                <a:solidFill>
                  <a:srgbClr val="1F5B8C"/>
                </a:solidFill>
                <a:latin typeface="Consolas"/>
                <a:ea typeface="Consolas"/>
                <a:cs typeface="Consolas"/>
                <a:sym typeface="Consolas"/>
              </a:rPr>
              <a:t>e</a:t>
            </a:r>
            <a:endParaRPr b="1" sz="1300">
              <a:solidFill>
                <a:srgbClr val="1F5B8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3" name="Google Shape;333;p40"/>
          <p:cNvSpPr txBox="1"/>
          <p:nvPr/>
        </p:nvSpPr>
        <p:spPr>
          <a:xfrm>
            <a:off x="582930" y="651510"/>
            <a:ext cx="797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3000">
                <a:solidFill>
                  <a:srgbClr val="14181E"/>
                </a:solidFill>
                <a:latin typeface="Georgia"/>
                <a:ea typeface="Georgia"/>
                <a:cs typeface="Georgia"/>
                <a:sym typeface="Georgia"/>
              </a:rPr>
              <a:t>High level planner</a:t>
            </a:r>
            <a:endParaRPr b="1" sz="3000">
              <a:solidFill>
                <a:srgbClr val="14181E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34" name="Google Shape;334;p40"/>
          <p:cNvSpPr/>
          <p:nvPr/>
        </p:nvSpPr>
        <p:spPr>
          <a:xfrm>
            <a:off x="582930" y="1289492"/>
            <a:ext cx="7977900" cy="19200"/>
          </a:xfrm>
          <a:prstGeom prst="rect">
            <a:avLst/>
          </a:prstGeom>
          <a:solidFill>
            <a:srgbClr val="14181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40"/>
          <p:cNvSpPr txBox="1"/>
          <p:nvPr/>
        </p:nvSpPr>
        <p:spPr>
          <a:xfrm>
            <a:off x="582925" y="1728225"/>
            <a:ext cx="3765000" cy="29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—  Same job as low level BUT Predict where chunk of actions lands, not step by step</a:t>
            </a:r>
            <a:endParaRPr sz="1300">
              <a:solidFill>
                <a:srgbClr val="1418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—  Action chunking: 5-15 primitive moves (2D) → 1 macro-action (4-dim) via GRU autoencoder</a:t>
            </a:r>
            <a:endParaRPr sz="1300">
              <a:solidFill>
                <a:srgbClr val="1418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—  Training: sample a trajectory → compress each chunk → predict the latent AFTER the whole chunk</a:t>
            </a:r>
            <a:endParaRPr sz="1300">
              <a:solidFill>
                <a:srgbClr val="1418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—  At test time: CEM searches 3-4 macro-actions (16 dims, not 80). </a:t>
            </a:r>
            <a:r>
              <a:rPr b="1" lang="en" sz="1300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Output is a subgoal </a:t>
            </a:r>
            <a:r>
              <a:rPr lang="en" sz="1300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latent</a:t>
            </a:r>
            <a:endParaRPr sz="1300">
              <a:solidFill>
                <a:srgbClr val="1418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300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—  Drop-in: same 64-dim latent as low level, so subgoal is directly the low level's target</a:t>
            </a:r>
            <a:endParaRPr sz="1300">
              <a:solidFill>
                <a:srgbClr val="14181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6" name="Google Shape;336;p40"/>
          <p:cNvGrpSpPr/>
          <p:nvPr/>
        </p:nvGrpSpPr>
        <p:grpSpPr>
          <a:xfrm>
            <a:off x="4701018" y="1484976"/>
            <a:ext cx="3990764" cy="3144775"/>
            <a:chOff x="6170700" y="1113200"/>
            <a:chExt cx="2973300" cy="2343000"/>
          </a:xfrm>
        </p:grpSpPr>
        <p:pic>
          <p:nvPicPr>
            <p:cNvPr id="337" name="Google Shape;337;p40"/>
            <p:cNvPicPr preferRelativeResize="0"/>
            <p:nvPr/>
          </p:nvPicPr>
          <p:blipFill rotWithShape="1">
            <a:blip r:embed="rId3">
              <a:alphaModFix/>
            </a:blip>
            <a:srcRect b="0" l="50055" r="0" t="744"/>
            <a:stretch/>
          </p:blipFill>
          <p:spPr>
            <a:xfrm>
              <a:off x="6170700" y="2299600"/>
              <a:ext cx="2973300" cy="1156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8" name="Google Shape;338;p40"/>
            <p:cNvPicPr preferRelativeResize="0"/>
            <p:nvPr/>
          </p:nvPicPr>
          <p:blipFill rotWithShape="1">
            <a:blip r:embed="rId3">
              <a:alphaModFix/>
            </a:blip>
            <a:srcRect b="0" l="0" r="50055" t="744"/>
            <a:stretch/>
          </p:blipFill>
          <p:spPr>
            <a:xfrm>
              <a:off x="6170700" y="1113200"/>
              <a:ext cx="2973300" cy="1156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1"/>
          <p:cNvSpPr txBox="1"/>
          <p:nvPr/>
        </p:nvSpPr>
        <p:spPr>
          <a:xfrm>
            <a:off x="899250" y="377199"/>
            <a:ext cx="7345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500">
                <a:solidFill>
                  <a:srgbClr val="1F5B8C"/>
                </a:solidFill>
                <a:latin typeface="Consolas"/>
                <a:ea typeface="Consolas"/>
                <a:cs typeface="Consolas"/>
                <a:sym typeface="Consolas"/>
              </a:rPr>
              <a:t> A Subgoal Is an Imagined Future</a:t>
            </a:r>
            <a:endParaRPr b="1" sz="1500">
              <a:solidFill>
                <a:srgbClr val="1F5B8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5" name="Google Shape;345;p41"/>
          <p:cNvSpPr txBox="1"/>
          <p:nvPr/>
        </p:nvSpPr>
        <p:spPr>
          <a:xfrm>
            <a:off x="582930" y="651510"/>
            <a:ext cx="797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3000">
                <a:solidFill>
                  <a:srgbClr val="14181E"/>
                </a:solidFill>
                <a:latin typeface="Georgia"/>
                <a:ea typeface="Georgia"/>
                <a:cs typeface="Georgia"/>
                <a:sym typeface="Georgia"/>
              </a:rPr>
              <a:t>High level planner</a:t>
            </a:r>
            <a:endParaRPr b="1" sz="3000">
              <a:solidFill>
                <a:srgbClr val="14181E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46" name="Google Shape;346;p41"/>
          <p:cNvSpPr/>
          <p:nvPr/>
        </p:nvSpPr>
        <p:spPr>
          <a:xfrm>
            <a:off x="582930" y="1289492"/>
            <a:ext cx="7977900" cy="19200"/>
          </a:xfrm>
          <a:prstGeom prst="rect">
            <a:avLst/>
          </a:prstGeom>
          <a:solidFill>
            <a:srgbClr val="14181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41"/>
          <p:cNvSpPr txBox="1"/>
          <p:nvPr/>
        </p:nvSpPr>
        <p:spPr>
          <a:xfrm>
            <a:off x="582925" y="1728225"/>
            <a:ext cx="3765000" cy="29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300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—  Same job as low level BUT Predict where chunk of actions lands, not step by step</a:t>
            </a:r>
            <a:endParaRPr sz="1300">
              <a:solidFill>
                <a:srgbClr val="1418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300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—  Action chunking: 5-15 primitive moves (2D) → 1 macro-action (4-dim) via GRU autoencoder</a:t>
            </a:r>
            <a:endParaRPr sz="1300">
              <a:solidFill>
                <a:srgbClr val="1418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300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—  Training: sample a trajectory → compress each chunk → predict the latent AFTER the whole chunk</a:t>
            </a:r>
            <a:endParaRPr sz="1300">
              <a:solidFill>
                <a:srgbClr val="1418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300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—  At test time: CEM searches 3-4 macro-actions (16 dims, not 80). </a:t>
            </a:r>
            <a:r>
              <a:rPr b="1" lang="en" sz="1300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Output is a subgoal </a:t>
            </a:r>
            <a:r>
              <a:rPr lang="en" sz="1300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latent</a:t>
            </a:r>
            <a:endParaRPr sz="1300">
              <a:solidFill>
                <a:srgbClr val="1418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300">
                <a:solidFill>
                  <a:srgbClr val="14181E"/>
                </a:solidFill>
                <a:latin typeface="Calibri"/>
                <a:ea typeface="Calibri"/>
                <a:cs typeface="Calibri"/>
                <a:sym typeface="Calibri"/>
              </a:rPr>
              <a:t>—  Drop-in: same 64-dim latent as low level, so subgoal is directly the low level's target</a:t>
            </a:r>
            <a:endParaRPr sz="1300">
              <a:solidFill>
                <a:srgbClr val="14181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8" name="Google Shape;348;p41" title="Screenshot 2026-08-29 at 2.30.42 am.png"/>
          <p:cNvPicPr preferRelativeResize="0"/>
          <p:nvPr/>
        </p:nvPicPr>
        <p:blipFill rotWithShape="1">
          <a:blip r:embed="rId3">
            <a:alphaModFix/>
          </a:blip>
          <a:srcRect b="1633" l="0" r="0" t="0"/>
          <a:stretch/>
        </p:blipFill>
        <p:spPr>
          <a:xfrm>
            <a:off x="4473925" y="0"/>
            <a:ext cx="4670076" cy="421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55" name="Google Shape;355;p42" title="WhatsApp GIF 2026-08-21 at 14.23.48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0744"/>
            <a:ext cx="9144000" cy="4557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62" name="Google Shape;362;p43" title="Screenshot 2026-08-28 at 4.37.2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413" y="1359432"/>
            <a:ext cx="8387876" cy="12123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